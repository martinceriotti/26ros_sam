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88952" cy="6455664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201168"/>
            <a:ext cx="164592" cy="6455664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BF0A30"/>
                </a:solidFill>
              </a:rPr>
              <a:t>Feature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B2314"/>
                </a:solidFill>
              </a:rPr>
              <a:t>Exploración y nuevas variables en el EDA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200400"/>
            <a:ext cx="8531352" cy="45720"/>
          </a:xfrm>
          <a:prstGeom prst="rect">
            <a:avLst/>
          </a:prstGeom>
          <a:solidFill>
            <a:srgbClr val="8B6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6530"/>
                </a:solidFill>
              </a:rPr>
              <a:t>Propiedades Residenciales — Miami / Sur de Florida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B2314"/>
                </a:solidFill>
              </a:rPr>
              <a:t>Equipo SAM  ·  MDM Austral 2026  ·  Labo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64592" cy="6455664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1704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BF0A30"/>
                </a:solidFill>
              </a:rPr>
              <a:t>$559,000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971800"/>
            <a:ext cx="8531352" cy="64008"/>
          </a:xfrm>
          <a:prstGeom prst="rect">
            <a:avLst/>
          </a:prstGeom>
          <a:solidFill>
            <a:srgbClr val="8B6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B2314"/>
                </a:solidFill>
              </a:rPr>
              <a:t>precio promedio de una casa en Miami en nuestro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862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8B6530"/>
                </a:solidFill>
              </a:rPr>
              <a:t>¿Podemos </a:t>
            </a:r>
            <a:r>
              <a:rPr sz="2400" b="1" i="0" dirty="0" err="1">
                <a:solidFill>
                  <a:srgbClr val="8B6530"/>
                </a:solidFill>
              </a:rPr>
              <a:t>predecirlo</a:t>
            </a:r>
            <a:r>
              <a:rPr sz="2400" b="1" i="0" dirty="0">
                <a:solidFill>
                  <a:srgbClr val="8B6530"/>
                </a:solidFill>
              </a:rPr>
              <a:t> </a:t>
            </a:r>
            <a:r>
              <a:rPr sz="2400" b="1" i="0" dirty="0" err="1">
                <a:solidFill>
                  <a:srgbClr val="8B6530"/>
                </a:solidFill>
              </a:rPr>
              <a:t>mejor</a:t>
            </a:r>
            <a:r>
              <a:rPr sz="2400" b="1" i="0" dirty="0">
                <a:solidFill>
                  <a:srgbClr val="8B6530"/>
                </a:solidFill>
              </a:rPr>
              <a:t> </a:t>
            </a:r>
            <a:r>
              <a:rPr sz="2400" b="1" i="0" dirty="0" err="1">
                <a:solidFill>
                  <a:srgbClr val="8B6530"/>
                </a:solidFill>
              </a:rPr>
              <a:t>que</a:t>
            </a:r>
            <a:r>
              <a:rPr sz="2400" b="1" i="0" dirty="0">
                <a:solidFill>
                  <a:srgbClr val="8B6530"/>
                </a:solidFill>
              </a:rPr>
              <a:t> un </a:t>
            </a:r>
            <a:r>
              <a:rPr sz="2400" b="1" i="0" dirty="0" err="1">
                <a:solidFill>
                  <a:srgbClr val="8B6530"/>
                </a:solidFill>
              </a:rPr>
              <a:t>agente</a:t>
            </a:r>
            <a:r>
              <a:rPr sz="2400" b="1" i="0" dirty="0">
                <a:solidFill>
                  <a:srgbClr val="8B6530"/>
                </a:solidFill>
              </a:rPr>
              <a:t> </a:t>
            </a:r>
            <a:r>
              <a:rPr sz="2400" b="1" i="0" dirty="0" err="1">
                <a:solidFill>
                  <a:srgbClr val="8B6530"/>
                </a:solidFill>
              </a:rPr>
              <a:t>inmobiliario</a:t>
            </a:r>
            <a:r>
              <a:rPr sz="2400" b="1" i="0" dirty="0">
                <a:solidFill>
                  <a:srgbClr val="8B6530"/>
                </a:solidFill>
              </a:rPr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4846320"/>
            <a:ext cx="6702552" cy="594360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04066" y="4965192"/>
            <a:ext cx="64008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Spoiler: </a:t>
            </a:r>
            <a:r>
              <a:rPr sz="2000" b="1" i="0" dirty="0" err="1">
                <a:solidFill>
                  <a:srgbClr val="FFFFFF"/>
                </a:solidFill>
              </a:rPr>
              <a:t>sí</a:t>
            </a:r>
            <a:r>
              <a:rPr sz="2000" b="1" i="0" dirty="0">
                <a:solidFill>
                  <a:srgbClr val="FFFFFF"/>
                </a:solidFill>
              </a:rPr>
              <a:t>.  Y lo </a:t>
            </a:r>
            <a:r>
              <a:rPr sz="2000" b="1" i="0" dirty="0" err="1">
                <a:solidFill>
                  <a:srgbClr val="FFFFFF"/>
                </a:solidFill>
              </a:rPr>
              <a:t>hacemos</a:t>
            </a:r>
            <a:r>
              <a:rPr sz="2000" b="1" i="0" dirty="0">
                <a:solidFill>
                  <a:srgbClr val="FFFFFF"/>
                </a:solidFill>
              </a:rPr>
              <a:t> gratis.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88952" cy="6455664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201168"/>
            <a:ext cx="164592" cy="6455664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4592" y="201168"/>
            <a:ext cx="12024360" cy="777240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256032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01  ·  Calidad de Datos: ceros enmascarando faltantes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>
                <a:solidFill>
                  <a:srgbClr val="3B2314"/>
                </a:solidFill>
              </a:rPr>
              <a:t>El dataset usa 0 en lugar de NaN cuando el dato no está disponible — patrón común en datasets de scraping inmobiliario.</a:t>
            </a:r>
          </a:p>
          <a:p>
            <a:pPr>
              <a:spcBef>
                <a:spcPts val="300"/>
              </a:spcBef>
            </a:pPr>
            <a:r>
              <a:rPr sz="1400" b="0">
                <a:solidFill>
                  <a:srgbClr val="3B2314"/>
                </a:solidFill>
              </a:rPr>
              <a:t>Detectamos 3 columnas afectadas: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9202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Columna</a:t>
                      </a:r>
                    </a:p>
                  </a:txBody>
                  <a:tcPr>
                    <a:solidFill>
                      <a:srgbClr val="BF0A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NaN reales</a:t>
                      </a:r>
                    </a:p>
                  </a:txBody>
                  <a:tcPr>
                    <a:solidFill>
                      <a:srgbClr val="BF0A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Ceros (missing real)</a:t>
                      </a:r>
                    </a:p>
                  </a:txBody>
                  <a:tcPr>
                    <a:solidFill>
                      <a:srgbClr val="BF0A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Total missing</a:t>
                      </a:r>
                    </a:p>
                  </a:txBody>
                  <a:tcPr>
                    <a:solidFill>
                      <a:srgbClr val="BF0A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Regla aplicada</a:t>
                      </a:r>
                    </a:p>
                  </a:txBody>
                  <a:tcPr>
                    <a:solidFill>
                      <a:srgbClr val="BF0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B2314"/>
                          </a:solidFill>
                        </a:rPr>
                        <a:t>bathrooms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B2314"/>
                          </a:solidFill>
                        </a:rPr>
                        <a:t>225  (1.9%)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B2314"/>
                          </a:solidFill>
                        </a:rPr>
                        <a:t>75  (0.6%)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B2314"/>
                          </a:solidFill>
                        </a:rPr>
                        <a:t>300  (2.5%)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B2314"/>
                          </a:solidFill>
                        </a:rPr>
                        <a:t>Cero → NaN  (excepto LOT: terreno sin baños)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B2314"/>
                          </a:solidFill>
                        </a:rPr>
                        <a:t>livingArea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B2314"/>
                          </a:solidFill>
                        </a:rPr>
                        <a:t>172  (1.5%)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B2314"/>
                          </a:solidFill>
                        </a:rPr>
                        <a:t>7  (0.1%)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B2314"/>
                          </a:solidFill>
                        </a:rPr>
                        <a:t>179  (1.5%)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B2314"/>
                          </a:solidFill>
                        </a:rPr>
                        <a:t>Cero → NaN  siempre (0 ft² es imposible)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B2314"/>
                          </a:solidFill>
                        </a:rPr>
                        <a:t>bedrooms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B2314"/>
                          </a:solidFill>
                        </a:rPr>
                        <a:t>480  (4.1%)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B2314"/>
                          </a:solidFill>
                        </a:rPr>
                        <a:t>96  (0.8%)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B2314"/>
                          </a:solidFill>
                        </a:rPr>
                        <a:t>576  (4.9%)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3B2314"/>
                          </a:solidFill>
                        </a:rPr>
                        <a:t>Cero → </a:t>
                      </a:r>
                      <a:r>
                        <a:rPr sz="1000" b="0" dirty="0" err="1">
                          <a:solidFill>
                            <a:srgbClr val="3B2314"/>
                          </a:solidFill>
                        </a:rPr>
                        <a:t>NaN</a:t>
                      </a:r>
                      <a:r>
                        <a:rPr sz="1000" b="0" dirty="0">
                          <a:solidFill>
                            <a:srgbClr val="3B2314"/>
                          </a:solidFill>
                        </a:rPr>
                        <a:t>  </a:t>
                      </a:r>
                      <a:r>
                        <a:rPr sz="1000" b="0" dirty="0" err="1">
                          <a:solidFill>
                            <a:srgbClr val="3B2314"/>
                          </a:solidFill>
                        </a:rPr>
                        <a:t>excepto</a:t>
                      </a:r>
                      <a:r>
                        <a:rPr sz="1000" b="0" dirty="0">
                          <a:solidFill>
                            <a:srgbClr val="3B2314"/>
                          </a:solidFill>
                        </a:rPr>
                        <a:t> CONDO/APARTMENT (studios </a:t>
                      </a:r>
                      <a:r>
                        <a:rPr sz="1000" b="0" dirty="0" err="1">
                          <a:solidFill>
                            <a:srgbClr val="3B2314"/>
                          </a:solidFill>
                        </a:rPr>
                        <a:t>válidos</a:t>
                      </a:r>
                      <a:r>
                        <a:rPr sz="1000" b="0" dirty="0">
                          <a:solidFill>
                            <a:srgbClr val="3B2314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3886200"/>
            <a:ext cx="11430000" cy="54864"/>
          </a:xfrm>
          <a:prstGeom prst="rect">
            <a:avLst/>
          </a:prstGeom>
          <a:solidFill>
            <a:srgbClr val="8B6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3977639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1">
                <a:solidFill>
                  <a:srgbClr val="BF0A30"/>
                </a:solidFill>
              </a:rPr>
              <a:t>Solución: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B2314"/>
                </a:solidFill>
              </a:rPr>
              <a:t>  Convertir ceros a NaN  →  imputar con mediana por homeType  →  fallback a mediana global.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8B6530"/>
                </a:solidFill>
              </a:rPr>
              <a:t>  (Convención ya establecida en el proyecto para NaN reales.)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88952" cy="6455664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201168"/>
            <a:ext cx="164592" cy="6455664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4592" y="201168"/>
            <a:ext cx="12024360" cy="777240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256032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02  ·  7 Features Nuevos Explorados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97280"/>
          <a:ext cx="9372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BF0A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Fórmula</a:t>
                      </a:r>
                    </a:p>
                  </a:txBody>
                  <a:tcPr>
                    <a:solidFill>
                      <a:srgbClr val="BF0A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¿Qué mide?</a:t>
                      </a:r>
                    </a:p>
                  </a:txBody>
                  <a:tcPr>
                    <a:solidFill>
                      <a:srgbClr val="BF0A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Corr.</a:t>
                      </a:r>
                    </a:p>
                  </a:txBody>
                  <a:tcPr>
                    <a:solidFill>
                      <a:srgbClr val="BF0A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Leaky?</a:t>
                      </a:r>
                    </a:p>
                  </a:txBody>
                  <a:tcPr>
                    <a:solidFill>
                      <a:srgbClr val="BF0A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>
                    <a:solidFill>
                      <a:srgbClr val="BF0A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B2314"/>
                          </a:solidFill>
                        </a:rPr>
                        <a:t>photo_signal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B2314"/>
                          </a:solidFill>
                        </a:rPr>
                        <a:t>photoCount / mediana(photoCount, por tipo)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B2314"/>
                          </a:solidFill>
                        </a:rPr>
                        <a:t>Esfuerzo de marketing relativo: más fotos de lo habitual sugiere propiedad premium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B2314"/>
                          </a:solidFill>
                        </a:rPr>
                        <a:t>+0.152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B2314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D7D32"/>
                          </a:solidFill>
                        </a:rPr>
                        <a:t>✓ Sí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B2314"/>
                          </a:solidFill>
                        </a:rPr>
                        <a:t>hoa_burden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B2314"/>
                          </a:solidFill>
                        </a:rPr>
                        <a:t>(hoa_fee_monthly × 12) / precio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B2314"/>
                          </a:solidFill>
                        </a:rPr>
                        <a:t>Cuota anual de mantenimiento como % del precio de compra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B2314"/>
                          </a:solidFill>
                        </a:rPr>
                        <a:t>−0.160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F0A30"/>
                          </a:solidFill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BF0A30"/>
                          </a:solidFill>
                        </a:rPr>
                        <a:t>✗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B2314"/>
                          </a:solidFill>
                        </a:rPr>
                        <a:t>area_per_room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B2314"/>
                          </a:solidFill>
                        </a:rPr>
                        <a:t>livingArea / (bedrooms + bathrooms)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B2314"/>
                          </a:solidFill>
                        </a:rPr>
                        <a:t>Espacio promedio por cuarto: diferencia studios pequeños de casas amplias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B2314"/>
                          </a:solidFill>
                        </a:rPr>
                        <a:t>+0.079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B2314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D7D32"/>
                          </a:solidFill>
                        </a:rPr>
                        <a:t>✓ Sí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B2314"/>
                          </a:solidFill>
                        </a:rPr>
                        <a:t>renovation_x_age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B2314"/>
                          </a:solidFill>
                        </a:rPr>
                        <a:t>desc_mentions_renovated × property_age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B2314"/>
                          </a:solidFill>
                        </a:rPr>
                        <a:t>Captura el sobreprecio de propiedades viejas que fueron reformadas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B2314"/>
                          </a:solidFill>
                        </a:rPr>
                        <a:t>+0.075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B2314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D7D32"/>
                          </a:solidFill>
                        </a:rPr>
                        <a:t>✓ 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B2314"/>
                          </a:solidFill>
                        </a:rPr>
                        <a:t>listing_discount_pct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B2314"/>
                          </a:solidFill>
                        </a:rPr>
                        <a:t>(listing − precio) / listing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B2314"/>
                          </a:solidFill>
                        </a:rPr>
                        <a:t>% de descuento sobre el precio de lista al momento de cerrar la venta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B2314"/>
                          </a:solidFill>
                        </a:rPr>
                        <a:t>−0.071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F0A30"/>
                          </a:solidFill>
                        </a:rPr>
                        <a:t>Sí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BF0A30"/>
                          </a:solidFill>
                        </a:rPr>
                        <a:t>✗ No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B2314"/>
                          </a:solidFill>
                        </a:rPr>
                        <a:t>market_premium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B2314"/>
                          </a:solidFill>
                        </a:rPr>
                        <a:t>precio / taxAssessedValue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B2314"/>
                          </a:solidFill>
                        </a:rPr>
                        <a:t>Cuánto paga el mercado por encima del valor catastral oficial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B2314"/>
                          </a:solidFill>
                        </a:rPr>
                        <a:t>+0.019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F0A30"/>
                          </a:solidFill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BF0A30"/>
                          </a:solidFill>
                        </a:rPr>
                        <a:t>✗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B2314"/>
                          </a:solidFill>
                        </a:rPr>
                        <a:t>price_per_sqft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B2314"/>
                          </a:solidFill>
                        </a:rPr>
                        <a:t>precio / livingArea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B2314"/>
                          </a:solidFill>
                        </a:rPr>
                        <a:t>Precio por pie cuadrado — métrica estándar del sector inmobiliario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B2314"/>
                          </a:solidFill>
                        </a:rPr>
                        <a:t>+0.006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F0A30"/>
                          </a:solidFill>
                        </a:rPr>
                        <a:t>Sí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BF0A30"/>
                          </a:solidFill>
                        </a:rPr>
                        <a:t>✗ No</a:t>
                      </a:r>
                    </a:p>
                  </a:txBody>
                  <a:tcPr>
                    <a:solidFill>
                      <a:srgbClr val="ECE8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6530"/>
                </a:solidFill>
              </a:rPr>
              <a:t>* Leaky = el feature usa el precio de venta en su cálculo → se filtra el target al modelo.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2188952" cy="6455664"/>
          </a:xfrm>
          <a:prstGeom prst="rect">
            <a:avLst/>
          </a:prstGeom>
          <a:solidFill>
            <a:srgbClr val="F5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201168"/>
            <a:ext cx="164592" cy="6455664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4592" y="201168"/>
            <a:ext cx="12024360" cy="777240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256032"/>
            <a:ext cx="11704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03  ·  Features para el Modelo  +  Insights de Mercado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669280" cy="411480"/>
          </a:xfrm>
          <a:prstGeom prst="rect">
            <a:avLst/>
          </a:prstGeom>
          <a:solidFill>
            <a:srgbClr val="8B6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Features aptos para Ronda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56692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BF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1371600" cy="1325880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+0.152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6733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0A30"/>
                </a:solidFill>
              </a:rPr>
              <a:t>photo_signal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01168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2314"/>
                </a:solidFill>
              </a:rPr>
              <a:t>¿Cuántas fotos tiene el anuncio comparado con casas similares?
Si hay muchas más fotos de lo normal, suele ser una casa más cara.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63240"/>
            <a:ext cx="56692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BF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063240"/>
            <a:ext cx="1371600" cy="1325880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29184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+0.079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1363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0A30"/>
                </a:solidFill>
              </a:rPr>
              <a:t>area_per_room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47472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2314"/>
                </a:solidFill>
              </a:rPr>
              <a:t>¿Cuántos metros cuadrados le tocan a cada cuarto?
No es lo mismo un depto de 80m² con 2 cuartos que con 6.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26280"/>
            <a:ext cx="56692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BF0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4526280"/>
            <a:ext cx="1371600" cy="1325880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7548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+0.075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5994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F0A30"/>
                </a:solidFill>
              </a:rPr>
              <a:t>renovation_x_age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93776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2314"/>
                </a:solidFill>
              </a:rPr>
              <a:t>¿Es una casa vieja que fue refaccionada?
Una casa antigua renovada vale más que una antigua sin tocar.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097280"/>
            <a:ext cx="5669280" cy="411480"/>
          </a:xfrm>
          <a:prstGeom prst="rect">
            <a:avLst/>
          </a:prstGeom>
          <a:solidFill>
            <a:srgbClr val="8B6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Insights del mercado (EDA)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600200"/>
            <a:ext cx="566928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8B6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1600200"/>
            <a:ext cx="1371600" cy="1463040"/>
          </a:xfrm>
          <a:prstGeom prst="rect">
            <a:avLst/>
          </a:prstGeom>
          <a:solidFill>
            <a:srgbClr val="8B6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19202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1.81×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16733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6530"/>
                </a:solidFill>
              </a:rPr>
              <a:t>Market Premium mediano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20574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2314"/>
                </a:solidFill>
              </a:rPr>
              <a:t>El gobierno valúa las casas a $100 para cobrar impuestos,
pero en la calle se venden a $181. El catastro oficial
queda siempre muy por debajo del precio real.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200400"/>
            <a:ext cx="566928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8B6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3200400"/>
            <a:ext cx="1371600" cy="1463040"/>
          </a:xfrm>
          <a:prstGeom prst="rect">
            <a:avLst/>
          </a:prstGeom>
          <a:solidFill>
            <a:srgbClr val="8B6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35204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56.4%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32735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6530"/>
                </a:solidFill>
              </a:rPr>
              <a:t>propiedades vendidas sobre el precio de lista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36576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2314"/>
                </a:solidFill>
              </a:rPr>
              <a:t>Más de la mitad de las casas se vendieron
MÁS CARO que su precio publicado.
El precio del cartel es el mínimo, no el máximo.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309360"/>
            <a:ext cx="11430000" cy="54864"/>
          </a:xfrm>
          <a:prstGeom prst="rect">
            <a:avLst/>
          </a:prstGeom>
          <a:solidFill>
            <a:srgbClr val="BF0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3B2314"/>
                </a:solidFill>
              </a:rPr>
              <a:t>Próximo paso: incorporar photo_signal, area_per_room y renovation_x_age en round2_segments.py → Ronda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662</Words>
  <Application>Microsoft Office PowerPoint</Application>
  <PresentationFormat>Personalizado</PresentationFormat>
  <Paragraphs>103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Martín Ceriotti</cp:lastModifiedBy>
  <cp:revision>4</cp:revision>
  <dcterms:created xsi:type="dcterms:W3CDTF">2013-01-27T09:14:16Z</dcterms:created>
  <dcterms:modified xsi:type="dcterms:W3CDTF">2026-06-12T20:36:59Z</dcterms:modified>
  <cp:category/>
</cp:coreProperties>
</file>