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C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700000" y="-100000"/>
            <a:ext cx="2600000" cy="2600000"/>
          </a:xfrm>
          <a:prstGeom prst="rtTriangle">
            <a:avLst/>
          </a:prstGeom>
          <a:solidFill>
            <a:srgbClr val="DB5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rot="10800000">
            <a:off x="10900000" y="1100000"/>
            <a:ext cx="1600000" cy="1600000"/>
          </a:xfrm>
          <a:prstGeom prst="rtTriangle">
            <a:avLst/>
          </a:prstGeom>
          <a:solidFill>
            <a:srgbClr val="1C9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Triangle 4"/>
          <p:cNvSpPr/>
          <p:nvPr/>
        </p:nvSpPr>
        <p:spPr>
          <a:xfrm rot="10800000">
            <a:off x="8900000" y="400000"/>
            <a:ext cx="1000000" cy="1000000"/>
          </a:xfrm>
          <a:prstGeom prst="rtTriangle">
            <a:avLst/>
          </a:prstGeom>
          <a:solidFill>
            <a:srgbClr val="4B59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0000" y="900000"/>
            <a:ext cx="8000000" cy="500000"/>
          </a:xfrm>
          <a:prstGeom prst="rect">
            <a:avLst/>
          </a:prstGeom>
          <a:noFill/>
        </p:spPr>
        <p:txBody>
          <a:bodyPr wrap="none">
            <a:spAutoFit/>
          </a:bodyPr>
          <a:lstStyle/>
          <a:p>
            <a:r>
              <a:rPr sz="1600" b="1">
                <a:solidFill>
                  <a:srgbClr val="C68136"/>
                </a:solidFill>
              </a:rPr>
              <a:t>MDM Austral 2026 · Labo 2</a:t>
            </a:r>
          </a:p>
        </p:txBody>
      </p:sp>
      <p:sp>
        <p:nvSpPr>
          <p:cNvPr id="7" name="TextBox 6"/>
          <p:cNvSpPr txBox="1"/>
          <p:nvPr/>
        </p:nvSpPr>
        <p:spPr>
          <a:xfrm>
            <a:off x="700000" y="1450000"/>
            <a:ext cx="9500000" cy="1300000"/>
          </a:xfrm>
          <a:prstGeom prst="rect">
            <a:avLst/>
          </a:prstGeom>
          <a:noFill/>
        </p:spPr>
        <p:txBody>
          <a:bodyPr wrap="square">
            <a:spAutoFit/>
          </a:bodyPr>
          <a:lstStyle/>
          <a:p>
            <a:r>
              <a:rPr sz="3800" b="1">
                <a:solidFill>
                  <a:srgbClr val="FFFFFF"/>
                </a:solidFill>
              </a:rPr>
              <a:t>Property Investment Competition</a:t>
            </a:r>
          </a:p>
        </p:txBody>
      </p:sp>
      <p:sp>
        <p:nvSpPr>
          <p:cNvPr id="8" name="TextBox 7"/>
          <p:cNvSpPr txBox="1"/>
          <p:nvPr/>
        </p:nvSpPr>
        <p:spPr>
          <a:xfrm>
            <a:off x="700000" y="2750000"/>
            <a:ext cx="9000000" cy="500000"/>
          </a:xfrm>
          <a:prstGeom prst="rect">
            <a:avLst/>
          </a:prstGeom>
          <a:noFill/>
        </p:spPr>
        <p:txBody>
          <a:bodyPr wrap="none">
            <a:spAutoFit/>
          </a:bodyPr>
          <a:lstStyle/>
          <a:p>
            <a:r>
              <a:rPr sz="1800">
                <a:solidFill>
                  <a:srgbClr val="D8DEEF"/>
                </a:solidFill>
              </a:rPr>
              <a:t>Estrategia ganadora, pruebas y fracasos — Equipo SAM</a:t>
            </a:r>
          </a:p>
        </p:txBody>
      </p:sp>
      <p:sp>
        <p:nvSpPr>
          <p:cNvPr id="9" name="TextBox 8"/>
          <p:cNvSpPr txBox="1"/>
          <p:nvPr/>
        </p:nvSpPr>
        <p:spPr>
          <a:xfrm>
            <a:off x="700000" y="3250000"/>
            <a:ext cx="9000000" cy="500000"/>
          </a:xfrm>
          <a:prstGeom prst="rect">
            <a:avLst/>
          </a:prstGeom>
          <a:noFill/>
        </p:spPr>
        <p:txBody>
          <a:bodyPr wrap="none">
            <a:spAutoFit/>
          </a:bodyPr>
          <a:lstStyle/>
          <a:p>
            <a:r>
              <a:rPr sz="1300" i="1">
                <a:solidFill>
                  <a:srgbClr val="B9C2DE"/>
                </a:solidFill>
              </a:rPr>
              <a:t>Modelo final: round8_distress_fix_scale083.csv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rot="10800000">
            <a:off x="9666111" y="-98779"/>
            <a:ext cx="2596444" cy="2413000"/>
          </a:xfrm>
          <a:prstGeom prst="rtTriangle">
            <a:avLst/>
          </a:prstGeom>
          <a:solidFill>
            <a:srgbClr val="DB5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300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EL JUEGO</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Objetivo y mecanica de la competencia</a:t>
            </a:r>
          </a:p>
        </p:txBody>
      </p:sp>
      <p:sp>
        <p:nvSpPr>
          <p:cNvPr id="6" name="TextBox 5"/>
          <p:cNvSpPr txBox="1"/>
          <p:nvPr/>
        </p:nvSpPr>
        <p:spPr>
          <a:xfrm>
            <a:off x="700000" y="1600000"/>
            <a:ext cx="10800000" cy="4500000"/>
          </a:xfrm>
          <a:prstGeom prst="rect">
            <a:avLst/>
          </a:prstGeom>
          <a:noFill/>
        </p:spPr>
        <p:txBody>
          <a:bodyPr wrap="square">
            <a:spAutoFit/>
          </a:bodyPr>
          <a:lstStyle/>
          <a:p>
            <a:pPr>
              <a:lnSpc>
                <a:spcPct val="115000"/>
              </a:lnSpc>
              <a:spcAft>
                <a:spcPts val="1400"/>
              </a:spcAft>
            </a:pPr>
            <a:r>
              <a:rPr sz="1600" b="1">
                <a:solidFill>
                  <a:srgbClr val="C68136"/>
                </a:solidFill>
                <a:latin typeface="Calibri"/>
              </a:rPr>
              <a:t>▸  </a:t>
            </a:r>
            <a:r>
              <a:rPr sz="1600">
                <a:solidFill>
                  <a:srgbClr val="222222"/>
                </a:solidFill>
                <a:latin typeface="Calibri"/>
              </a:rPr>
              <a:t>Cada propiedad tiene un precio de oferta (asking price) generado al azar alrededor del valor real: asking = valor_real x (1 + Normal(-7%, 35%)).</a:t>
            </a:r>
          </a:p>
          <a:p>
            <a:pPr>
              <a:lnSpc>
                <a:spcPct val="115000"/>
              </a:lnSpc>
              <a:spcAft>
                <a:spcPts val="1400"/>
              </a:spcAft>
            </a:pPr>
            <a:r>
              <a:rPr sz="1600" b="1">
                <a:solidFill>
                  <a:srgbClr val="C68136"/>
                </a:solidFill>
                <a:latin typeface="Calibri"/>
              </a:rPr>
              <a:t>▸  </a:t>
            </a:r>
            <a:r>
              <a:rPr sz="1600">
                <a:solidFill>
                  <a:srgbClr val="222222"/>
                </a:solidFill>
                <a:latin typeface="Calibri"/>
              </a:rPr>
              <a:t>Compramos solo si nuestra prediccion supera el asking price en un 8% (pred &gt; asking x 1.08).</a:t>
            </a:r>
          </a:p>
          <a:p>
            <a:pPr>
              <a:lnSpc>
                <a:spcPct val="115000"/>
              </a:lnSpc>
              <a:spcAft>
                <a:spcPts val="1400"/>
              </a:spcAft>
            </a:pPr>
            <a:r>
              <a:rPr sz="1600" b="1">
                <a:solidFill>
                  <a:srgbClr val="C68136"/>
                </a:solidFill>
                <a:latin typeface="Calibri"/>
              </a:rPr>
              <a:t>▸  </a:t>
            </a:r>
            <a:r>
              <a:rPr sz="1600">
                <a:solidFill>
                  <a:srgbClr val="222222"/>
                </a:solidFill>
                <a:latin typeface="Calibri"/>
              </a:rPr>
              <a:t>Si compramos, ofertamos pred x 0.85 en una subasta Vickrey: gana el mayor postor pero paga el precio del segundo postor.</a:t>
            </a:r>
          </a:p>
          <a:p>
            <a:pPr>
              <a:lnSpc>
                <a:spcPct val="115000"/>
              </a:lnSpc>
              <a:spcAft>
                <a:spcPts val="1400"/>
              </a:spcAft>
            </a:pPr>
            <a:r>
              <a:rPr sz="1600" b="1">
                <a:solidFill>
                  <a:srgbClr val="C68136"/>
                </a:solidFill>
                <a:latin typeface="Calibri"/>
              </a:rPr>
              <a:t>▸  </a:t>
            </a:r>
            <a:r>
              <a:rPr sz="1600">
                <a:solidFill>
                  <a:srgbClr val="222222"/>
                </a:solidFill>
                <a:latin typeface="Calibri"/>
              </a:rPr>
              <a:t>Se corren 1,000 simulaciones Monte Carlo, 4 rondas por simulacion, capital de $5M por ronda.</a:t>
            </a:r>
          </a:p>
          <a:p>
            <a:pPr>
              <a:lnSpc>
                <a:spcPct val="115000"/>
              </a:lnSpc>
              <a:spcAft>
                <a:spcPts val="1400"/>
              </a:spcAft>
            </a:pPr>
            <a:r>
              <a:rPr sz="1600" b="1">
                <a:solidFill>
                  <a:srgbClr val="C68136"/>
                </a:solidFill>
                <a:latin typeface="Calibri"/>
              </a:rPr>
              <a:t>▸  </a:t>
            </a:r>
            <a:r>
              <a:rPr sz="1600">
                <a:solidFill>
                  <a:srgbClr val="222222"/>
                </a:solidFill>
                <a:latin typeface="Calibri"/>
              </a:rPr>
              <a:t>Gana el equipo con mayor Mean ROI promedio (metrica principal). El Win Rate es secundario: no decide el ganador.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a:off x="186158" y="-198852"/>
            <a:ext cx="1901656" cy="2273969"/>
          </a:xfrm>
          <a:prstGeom prst="rtTriangle">
            <a:avLst/>
          </a:prstGeom>
          <a:solidFill>
            <a:srgbClr val="1C9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10145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RESUMEN</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Cronologia: que probamos, que funciono y que no</a:t>
            </a:r>
          </a:p>
        </p:txBody>
      </p:sp>
      <p:graphicFrame>
        <p:nvGraphicFramePr>
          <p:cNvPr id="6" name="Table 5"/>
          <p:cNvGraphicFramePr>
            <a:graphicFrameLocks noGrp="1"/>
          </p:cNvGraphicFramePr>
          <p:nvPr/>
        </p:nvGraphicFramePr>
        <p:xfrm>
          <a:off x="700000" y="1500000"/>
          <a:ext cx="10800000" cy="5180000"/>
        </p:xfrm>
        <a:graphic>
          <a:graphicData uri="http://schemas.openxmlformats.org/drawingml/2006/table">
            <a:tbl>
              <a:tblPr firstRow="1" bandRow="1">
                <a:tableStyleId>{5C22544A-7EE6-4342-B048-85BDC9FD1C3A}</a:tableStyleId>
              </a:tblPr>
              <a:tblGrid>
                <a:gridCol w="1600000"/>
                <a:gridCol w="7600000"/>
                <a:gridCol w="1600000"/>
              </a:tblGrid>
              <a:tr h="370000">
                <a:tc>
                  <a:txBody>
                    <a:bodyPr wrap="square"/>
                    <a:lstStyle/>
                    <a:p>
                      <a:pPr algn="l"/>
                      <a:r>
                        <a:rPr sz="1200" b="1">
                          <a:solidFill>
                            <a:srgbClr val="FFFFFF"/>
                          </a:solidFill>
                          <a:latin typeface="Calibri"/>
                        </a:rPr>
                        <a:t>Ronda</a:t>
                      </a:r>
                    </a:p>
                  </a:txBody>
                  <a:tcPr marL="90000" marR="90000" marT="18000" marB="18000">
                    <a:solidFill>
                      <a:srgbClr val="1C3087"/>
                    </a:solidFill>
                  </a:tcPr>
                </a:tc>
                <a:tc>
                  <a:txBody>
                    <a:bodyPr wrap="square"/>
                    <a:lstStyle/>
                    <a:p>
                      <a:pPr algn="l"/>
                      <a:r>
                        <a:rPr sz="1200" b="1">
                          <a:solidFill>
                            <a:srgbClr val="FFFFFF"/>
                          </a:solidFill>
                          <a:latin typeface="Calibri"/>
                        </a:rPr>
                        <a:t>Que se probo</a:t>
                      </a:r>
                    </a:p>
                  </a:txBody>
                  <a:tcPr marL="90000" marR="90000" marT="18000" marB="18000">
                    <a:solidFill>
                      <a:srgbClr val="1C3087"/>
                    </a:solidFill>
                  </a:tcPr>
                </a:tc>
                <a:tc>
                  <a:txBody>
                    <a:bodyPr wrap="square"/>
                    <a:lstStyle/>
                    <a:p>
                      <a:pPr algn="ctr"/>
                      <a:r>
                        <a:rPr sz="1200" b="1">
                          <a:solidFill>
                            <a:srgbClr val="FFFFFF"/>
                          </a:solidFill>
                          <a:latin typeface="Calibri"/>
                        </a:rPr>
                        <a:t>Resultado</a:t>
                      </a:r>
                    </a:p>
                  </a:txBody>
                  <a:tcPr marL="90000" marR="90000" marT="18000" marB="18000">
                    <a:solidFill>
                      <a:srgbClr val="1C3087"/>
                    </a:solidFill>
                  </a:tcPr>
                </a:tc>
              </a:tr>
              <a:tr h="370000">
                <a:tc>
                  <a:txBody>
                    <a:bodyPr wrap="square"/>
                    <a:lstStyle/>
                    <a:p>
                      <a:pPr algn="l"/>
                      <a:r>
                        <a:rPr sz="1000" b="0">
                          <a:solidFill>
                            <a:srgbClr val="5B5B5B"/>
                          </a:solidFill>
                          <a:latin typeface="Calibri"/>
                        </a:rPr>
                        <a:t>Ronda 1</a:t>
                      </a:r>
                    </a:p>
                  </a:txBody>
                  <a:tcPr marL="90000" marR="90000" marT="18000" marB="18000">
                    <a:solidFill>
                      <a:srgbClr val="FFFFFF"/>
                    </a:solidFill>
                  </a:tcPr>
                </a:tc>
                <a:tc>
                  <a:txBody>
                    <a:bodyPr wrap="square"/>
                    <a:lstStyle/>
                    <a:p>
                      <a:pPr algn="l"/>
                      <a:r>
                        <a:rPr sz="1050" b="0">
                          <a:solidFill>
                            <a:srgbClr val="222222"/>
                          </a:solidFill>
                          <a:latin typeface="Calibri"/>
                        </a:rPr>
                        <a:t>Baseline LightGBM</a:t>
                      </a:r>
                    </a:p>
                  </a:txBody>
                  <a:tcPr marL="90000" marR="90000" marT="18000" marB="18000">
                    <a:solidFill>
                      <a:srgbClr val="FFFFFF"/>
                    </a:solidFill>
                  </a:tcPr>
                </a:tc>
                <a:tc>
                  <a:txBody>
                    <a:bodyPr wrap="square"/>
                    <a:lstStyle/>
                    <a:p>
                      <a:pPr algn="ctr"/>
                      <a:r>
                        <a:rPr sz="950" b="1">
                          <a:solidFill>
                            <a:srgbClr val="4B5995"/>
                          </a:solidFill>
                          <a:latin typeface="Calibri"/>
                        </a:rPr>
                        <a:t>OK</a:t>
                      </a:r>
                    </a:p>
                  </a:txBody>
                  <a:tcPr marL="90000" marR="90000" marT="18000" marB="18000">
                    <a:solidFill>
                      <a:srgbClr val="FFFFFF"/>
                    </a:solidFill>
                  </a:tcPr>
                </a:tc>
              </a:tr>
              <a:tr h="370000">
                <a:tc>
                  <a:txBody>
                    <a:bodyPr wrap="square"/>
                    <a:lstStyle/>
                    <a:p>
                      <a:pPr algn="l"/>
                      <a:r>
                        <a:rPr sz="1000" b="0">
                          <a:solidFill>
                            <a:srgbClr val="5B5B5B"/>
                          </a:solidFill>
                          <a:latin typeface="Calibri"/>
                        </a:rPr>
                        <a:t>Ronda 2</a:t>
                      </a:r>
                    </a:p>
                  </a:txBody>
                  <a:tcPr marL="90000" marR="90000" marT="18000" marB="18000">
                    <a:solidFill>
                      <a:srgbClr val="F7F8FC"/>
                    </a:solidFill>
                  </a:tcPr>
                </a:tc>
                <a:tc>
                  <a:txBody>
                    <a:bodyPr wrap="square"/>
                    <a:lstStyle/>
                    <a:p>
                      <a:pPr algn="l"/>
                      <a:r>
                        <a:rPr sz="1050" b="0">
                          <a:solidFill>
                            <a:srgbClr val="222222"/>
                          </a:solidFill>
                          <a:latin typeface="Calibri"/>
                        </a:rPr>
                        <a:t>Segmentacion + Feature Engineering</a:t>
                      </a:r>
                    </a:p>
                  </a:txBody>
                  <a:tcPr marL="90000" marR="90000" marT="18000" marB="18000">
                    <a:solidFill>
                      <a:srgbClr val="F7F8FC"/>
                    </a:solidFill>
                  </a:tcPr>
                </a:tc>
                <a:tc>
                  <a:txBody>
                    <a:bodyPr wrap="square"/>
                    <a:lstStyle/>
                    <a:p>
                      <a:pPr algn="ctr"/>
                      <a:r>
                        <a:rPr sz="950" b="1">
                          <a:solidFill>
                            <a:srgbClr val="C0392B"/>
                          </a:solidFill>
                          <a:latin typeface="Calibri"/>
                        </a:rPr>
                        <a:t>NO FUNCIONO</a:t>
                      </a:r>
                    </a:p>
                  </a:txBody>
                  <a:tcPr marL="90000" marR="90000" marT="18000" marB="18000">
                    <a:solidFill>
                      <a:srgbClr val="F7F8FC"/>
                    </a:solidFill>
                  </a:tcPr>
                </a:tc>
              </a:tr>
              <a:tr h="370000">
                <a:tc>
                  <a:txBody>
                    <a:bodyPr wrap="square"/>
                    <a:lstStyle/>
                    <a:p>
                      <a:pPr algn="l"/>
                      <a:r>
                        <a:rPr sz="1000" b="0">
                          <a:solidFill>
                            <a:srgbClr val="5B5B5B"/>
                          </a:solidFill>
                          <a:latin typeface="Calibri"/>
                        </a:rPr>
                        <a:t>Ronda 3</a:t>
                      </a:r>
                    </a:p>
                  </a:txBody>
                  <a:tcPr marL="90000" marR="90000" marT="18000" marB="18000">
                    <a:solidFill>
                      <a:srgbClr val="FFFFFF"/>
                    </a:solidFill>
                  </a:tcPr>
                </a:tc>
                <a:tc>
                  <a:txBody>
                    <a:bodyPr wrap="square"/>
                    <a:lstStyle/>
                    <a:p>
                      <a:pPr algn="l"/>
                      <a:r>
                        <a:rPr sz="1050" b="0">
                          <a:solidFill>
                            <a:srgbClr val="222222"/>
                          </a:solidFill>
                          <a:latin typeface="Calibri"/>
                        </a:rPr>
                        <a:t>Deteccion de "distressed sales ocultas"</a:t>
                      </a:r>
                    </a:p>
                  </a:txBody>
                  <a:tcPr marL="90000" marR="90000" marT="18000" marB="18000">
                    <a:solidFill>
                      <a:srgbClr val="FFFFFF"/>
                    </a:solidFill>
                  </a:tcPr>
                </a:tc>
                <a:tc>
                  <a:txBody>
                    <a:bodyPr wrap="square"/>
                    <a:lstStyle/>
                    <a:p>
                      <a:pPr algn="ctr"/>
                      <a:r>
                        <a:rPr sz="950" b="1">
                          <a:solidFill>
                            <a:srgbClr val="4B5995"/>
                          </a:solidFill>
                          <a:latin typeface="Calibri"/>
                        </a:rPr>
                        <a:t>OK</a:t>
                      </a:r>
                    </a:p>
                  </a:txBody>
                  <a:tcPr marL="90000" marR="90000" marT="18000" marB="18000">
                    <a:solidFill>
                      <a:srgbClr val="FFFFFF"/>
                    </a:solidFill>
                  </a:tcPr>
                </a:tc>
              </a:tr>
              <a:tr h="370000">
                <a:tc>
                  <a:txBody>
                    <a:bodyPr wrap="square"/>
                    <a:lstStyle/>
                    <a:p>
                      <a:pPr algn="l"/>
                      <a:r>
                        <a:rPr sz="1000" b="0">
                          <a:solidFill>
                            <a:srgbClr val="5B5B5B"/>
                          </a:solidFill>
                          <a:latin typeface="Calibri"/>
                        </a:rPr>
                        <a:t>Ronda 3-4</a:t>
                      </a:r>
                    </a:p>
                  </a:txBody>
                  <a:tcPr marL="90000" marR="90000" marT="18000" marB="18000">
                    <a:solidFill>
                      <a:srgbClr val="F7F8FC"/>
                    </a:solidFill>
                  </a:tcPr>
                </a:tc>
                <a:tc>
                  <a:txBody>
                    <a:bodyPr wrap="square"/>
                    <a:lstStyle/>
                    <a:p>
                      <a:pPr algn="l"/>
                      <a:r>
                        <a:rPr sz="1050" b="0">
                          <a:solidFill>
                            <a:srgbClr val="222222"/>
                          </a:solidFill>
                          <a:latin typeface="Calibri"/>
                        </a:rPr>
                        <a:t>Embeddings de imagenes (CLIP)</a:t>
                      </a:r>
                    </a:p>
                  </a:txBody>
                  <a:tcPr marL="90000" marR="90000" marT="18000" marB="18000">
                    <a:solidFill>
                      <a:srgbClr val="F7F8FC"/>
                    </a:solidFill>
                  </a:tcPr>
                </a:tc>
                <a:tc>
                  <a:txBody>
                    <a:bodyPr wrap="square"/>
                    <a:lstStyle/>
                    <a:p>
                      <a:pPr algn="ctr"/>
                      <a:r>
                        <a:rPr sz="950" b="1">
                          <a:solidFill>
                            <a:srgbClr val="1C9C82"/>
                          </a:solidFill>
                          <a:latin typeface="Calibri"/>
                        </a:rPr>
                        <a:t>FUNCIONO</a:t>
                      </a:r>
                    </a:p>
                  </a:txBody>
                  <a:tcPr marL="90000" marR="90000" marT="18000" marB="18000">
                    <a:solidFill>
                      <a:srgbClr val="F7F8FC"/>
                    </a:solidFill>
                  </a:tcPr>
                </a:tc>
              </a:tr>
              <a:tr h="370000">
                <a:tc>
                  <a:txBody>
                    <a:bodyPr wrap="square"/>
                    <a:lstStyle/>
                    <a:p>
                      <a:pPr algn="l"/>
                      <a:r>
                        <a:rPr sz="1000" b="0">
                          <a:solidFill>
                            <a:srgbClr val="5B5B5B"/>
                          </a:solidFill>
                          <a:latin typeface="Calibri"/>
                        </a:rPr>
                        <a:t>Ronda 4</a:t>
                      </a:r>
                    </a:p>
                  </a:txBody>
                  <a:tcPr marL="90000" marR="90000" marT="18000" marB="18000">
                    <a:solidFill>
                      <a:srgbClr val="FFFFFF"/>
                    </a:solidFill>
                  </a:tcPr>
                </a:tc>
                <a:tc>
                  <a:txBody>
                    <a:bodyPr wrap="square"/>
                    <a:lstStyle/>
                    <a:p>
                      <a:pPr algn="l"/>
                      <a:r>
                        <a:rPr sz="1050" b="0">
                          <a:solidFill>
                            <a:srgbClr val="222222"/>
                          </a:solidFill>
                          <a:latin typeface="Calibri"/>
                        </a:rPr>
                        <a:t>Regresion cuantil (percentil 35, no la media)</a:t>
                      </a:r>
                    </a:p>
                  </a:txBody>
                  <a:tcPr marL="90000" marR="90000" marT="18000" marB="18000">
                    <a:solidFill>
                      <a:srgbClr val="FFFFFF"/>
                    </a:solidFill>
                  </a:tcPr>
                </a:tc>
                <a:tc>
                  <a:txBody>
                    <a:bodyPr wrap="square"/>
                    <a:lstStyle/>
                    <a:p>
                      <a:pPr algn="ctr"/>
                      <a:r>
                        <a:rPr sz="950" b="1">
                          <a:solidFill>
                            <a:srgbClr val="1C9C82"/>
                          </a:solidFill>
                          <a:latin typeface="Calibri"/>
                        </a:rPr>
                        <a:t>FUNCIONO</a:t>
                      </a:r>
                    </a:p>
                  </a:txBody>
                  <a:tcPr marL="90000" marR="90000" marT="18000" marB="18000">
                    <a:solidFill>
                      <a:srgbClr val="FFFFFF"/>
                    </a:solidFill>
                  </a:tcPr>
                </a:tc>
              </a:tr>
              <a:tr h="370000">
                <a:tc>
                  <a:txBody>
                    <a:bodyPr wrap="square"/>
                    <a:lstStyle/>
                    <a:p>
                      <a:pPr algn="l"/>
                      <a:r>
                        <a:rPr sz="1000" b="0">
                          <a:solidFill>
                            <a:srgbClr val="5B5B5B"/>
                          </a:solidFill>
                          <a:latin typeface="Calibri"/>
                        </a:rPr>
                        <a:t>Simulador propio</a:t>
                      </a:r>
                    </a:p>
                  </a:txBody>
                  <a:tcPr marL="90000" marR="90000" marT="18000" marB="18000">
                    <a:solidFill>
                      <a:srgbClr val="F7F8FC"/>
                    </a:solidFill>
                  </a:tcPr>
                </a:tc>
                <a:tc>
                  <a:txBody>
                    <a:bodyPr wrap="square"/>
                    <a:lstStyle/>
                    <a:p>
                      <a:pPr algn="l"/>
                      <a:r>
                        <a:rPr sz="1050" b="0">
                          <a:solidFill>
                            <a:srgbClr val="222222"/>
                          </a:solidFill>
                          <a:latin typeface="Calibri"/>
                        </a:rPr>
                        <a:t>Monte Carlo local calibrado con datos reales</a:t>
                      </a:r>
                    </a:p>
                  </a:txBody>
                  <a:tcPr marL="90000" marR="90000" marT="18000" marB="18000">
                    <a:solidFill>
                      <a:srgbClr val="F7F8FC"/>
                    </a:solidFill>
                  </a:tcPr>
                </a:tc>
                <a:tc>
                  <a:txBody>
                    <a:bodyPr wrap="square"/>
                    <a:lstStyle/>
                    <a:p>
                      <a:pPr algn="ctr"/>
                      <a:r>
                        <a:rPr sz="950" b="1">
                          <a:solidFill>
                            <a:srgbClr val="4B5995"/>
                          </a:solidFill>
                          <a:latin typeface="Calibri"/>
                        </a:rPr>
                        <a:t>OK</a:t>
                      </a:r>
                    </a:p>
                  </a:txBody>
                  <a:tcPr marL="90000" marR="90000" marT="18000" marB="18000">
                    <a:solidFill>
                      <a:srgbClr val="F7F8FC"/>
                    </a:solidFill>
                  </a:tcPr>
                </a:tc>
              </a:tr>
              <a:tr h="370000">
                <a:tc>
                  <a:txBody>
                    <a:bodyPr wrap="square"/>
                    <a:lstStyle/>
                    <a:p>
                      <a:pPr algn="l"/>
                      <a:r>
                        <a:rPr sz="1000" b="0">
                          <a:solidFill>
                            <a:srgbClr val="5B5B5B"/>
                          </a:solidFill>
                          <a:latin typeface="Calibri"/>
                        </a:rPr>
                        <a:t>Ronda 5</a:t>
                      </a:r>
                    </a:p>
                  </a:txBody>
                  <a:tcPr marL="90000" marR="90000" marT="18000" marB="18000">
                    <a:solidFill>
                      <a:srgbClr val="FFFFFF"/>
                    </a:solidFill>
                  </a:tcPr>
                </a:tc>
                <a:tc>
                  <a:txBody>
                    <a:bodyPr wrap="square"/>
                    <a:lstStyle/>
                    <a:p>
                      <a:pPr algn="l"/>
                      <a:r>
                        <a:rPr sz="1050" b="0">
                          <a:solidFill>
                            <a:srgbClr val="222222"/>
                          </a:solidFill>
                          <a:latin typeface="Calibri"/>
                        </a:rPr>
                        <a:t>Mas conservador, penalidad dura a foreclosure</a:t>
                      </a:r>
                    </a:p>
                  </a:txBody>
                  <a:tcPr marL="90000" marR="90000" marT="18000" marB="18000">
                    <a:solidFill>
                      <a:srgbClr val="FFFFFF"/>
                    </a:solidFill>
                  </a:tcPr>
                </a:tc>
                <a:tc>
                  <a:txBody>
                    <a:bodyPr wrap="square"/>
                    <a:lstStyle/>
                    <a:p>
                      <a:pPr algn="ctr"/>
                      <a:r>
                        <a:rPr sz="950" b="1">
                          <a:solidFill>
                            <a:srgbClr val="4B5995"/>
                          </a:solidFill>
                          <a:latin typeface="Calibri"/>
                        </a:rPr>
                        <a:t>OK</a:t>
                      </a:r>
                    </a:p>
                  </a:txBody>
                  <a:tcPr marL="90000" marR="90000" marT="18000" marB="18000">
                    <a:solidFill>
                      <a:srgbClr val="FFFFFF"/>
                    </a:solidFill>
                  </a:tcPr>
                </a:tc>
              </a:tr>
              <a:tr h="370000">
                <a:tc>
                  <a:txBody>
                    <a:bodyPr wrap="square"/>
                    <a:lstStyle/>
                    <a:p>
                      <a:pPr algn="l"/>
                      <a:r>
                        <a:rPr sz="1000" b="0">
                          <a:solidFill>
                            <a:srgbClr val="5B5B5B"/>
                          </a:solidFill>
                          <a:latin typeface="Calibri"/>
                        </a:rPr>
                        <a:t>Ronda 6</a:t>
                      </a:r>
                    </a:p>
                  </a:txBody>
                  <a:tcPr marL="90000" marR="90000" marT="18000" marB="18000">
                    <a:solidFill>
                      <a:srgbClr val="F7F8FC"/>
                    </a:solidFill>
                  </a:tcPr>
                </a:tc>
                <a:tc>
                  <a:txBody>
                    <a:bodyPr wrap="square"/>
                    <a:lstStyle/>
                    <a:p>
                      <a:pPr algn="l"/>
                      <a:r>
                        <a:rPr sz="1050" b="0">
                          <a:solidFill>
                            <a:srgbClr val="222222"/>
                          </a:solidFill>
                          <a:latin typeface="Calibri"/>
                        </a:rPr>
                        <a:t>Experimento: prediccion central + descuento quirurgico</a:t>
                      </a:r>
                    </a:p>
                  </a:txBody>
                  <a:tcPr marL="90000" marR="90000" marT="18000" marB="18000">
                    <a:solidFill>
                      <a:srgbClr val="F7F8FC"/>
                    </a:solidFill>
                  </a:tcPr>
                </a:tc>
                <a:tc>
                  <a:txBody>
                    <a:bodyPr wrap="square"/>
                    <a:lstStyle/>
                    <a:p>
                      <a:pPr algn="ctr"/>
                      <a:r>
                        <a:rPr sz="950" b="1">
                          <a:solidFill>
                            <a:srgbClr val="C68136"/>
                          </a:solidFill>
                          <a:latin typeface="Calibri"/>
                        </a:rPr>
                        <a:t>MIXTO</a:t>
                      </a:r>
                    </a:p>
                  </a:txBody>
                  <a:tcPr marL="90000" marR="90000" marT="18000" marB="18000">
                    <a:solidFill>
                      <a:srgbClr val="F7F8FC"/>
                    </a:solidFill>
                  </a:tcPr>
                </a:tc>
              </a:tr>
              <a:tr h="370000">
                <a:tc>
                  <a:txBody>
                    <a:bodyPr wrap="square"/>
                    <a:lstStyle/>
                    <a:p>
                      <a:pPr algn="l"/>
                      <a:r>
                        <a:rPr sz="1000" b="0">
                          <a:solidFill>
                            <a:srgbClr val="5B5B5B"/>
                          </a:solidFill>
                          <a:latin typeface="Calibri"/>
                        </a:rPr>
                        <a:t>Ronda 7</a:t>
                      </a:r>
                    </a:p>
                  </a:txBody>
                  <a:tcPr marL="90000" marR="90000" marT="18000" marB="18000">
                    <a:solidFill>
                      <a:srgbClr val="FFFFFF"/>
                    </a:solidFill>
                  </a:tcPr>
                </a:tc>
                <a:tc>
                  <a:txBody>
                    <a:bodyPr wrap="square"/>
                    <a:lstStyle/>
                    <a:p>
                      <a:pPr algn="l"/>
                      <a:r>
                        <a:rPr sz="1050" b="0">
                          <a:solidFill>
                            <a:srgbClr val="222222"/>
                          </a:solidFill>
                          <a:latin typeface="Calibri"/>
                        </a:rPr>
                        <a:t>Punto intermedio: alpha=0.42</a:t>
                      </a:r>
                    </a:p>
                  </a:txBody>
                  <a:tcPr marL="90000" marR="90000" marT="18000" marB="18000">
                    <a:solidFill>
                      <a:srgbClr val="FFFFFF"/>
                    </a:solidFill>
                  </a:tcPr>
                </a:tc>
                <a:tc>
                  <a:txBody>
                    <a:bodyPr wrap="square"/>
                    <a:lstStyle/>
                    <a:p>
                      <a:pPr algn="ctr"/>
                      <a:r>
                        <a:rPr sz="950" b="1">
                          <a:solidFill>
                            <a:srgbClr val="C68136"/>
                          </a:solidFill>
                          <a:latin typeface="Calibri"/>
                        </a:rPr>
                        <a:t>MIXTO</a:t>
                      </a:r>
                    </a:p>
                  </a:txBody>
                  <a:tcPr marL="90000" marR="90000" marT="18000" marB="18000">
                    <a:solidFill>
                      <a:srgbClr val="FFFFFF"/>
                    </a:solidFill>
                  </a:tcPr>
                </a:tc>
              </a:tr>
              <a:tr h="370000">
                <a:tc>
                  <a:txBody>
                    <a:bodyPr wrap="square"/>
                    <a:lstStyle/>
                    <a:p>
                      <a:pPr algn="l"/>
                      <a:r>
                        <a:rPr sz="1000" b="0">
                          <a:solidFill>
                            <a:srgbClr val="5B5B5B"/>
                          </a:solidFill>
                          <a:latin typeface="Calibri"/>
                        </a:rPr>
                        <a:t>Ronda 8</a:t>
                      </a:r>
                    </a:p>
                  </a:txBody>
                  <a:tcPr marL="90000" marR="90000" marT="18000" marB="18000">
                    <a:solidFill>
                      <a:srgbClr val="F7F8FC"/>
                    </a:solidFill>
                  </a:tcPr>
                </a:tc>
                <a:tc>
                  <a:txBody>
                    <a:bodyPr wrap="square"/>
                    <a:lstStyle/>
                    <a:p>
                      <a:pPr algn="l"/>
                      <a:r>
                        <a:rPr sz="1050" b="0">
                          <a:solidFill>
                            <a:srgbClr val="222222"/>
                          </a:solidFill>
                          <a:latin typeface="Calibri"/>
                        </a:rPr>
                        <a:t>Fix quirurgico final (mejor modelo)</a:t>
                      </a:r>
                    </a:p>
                  </a:txBody>
                  <a:tcPr marL="90000" marR="90000" marT="18000" marB="18000">
                    <a:solidFill>
                      <a:srgbClr val="F7F8FC"/>
                    </a:solidFill>
                  </a:tcPr>
                </a:tc>
                <a:tc>
                  <a:txBody>
                    <a:bodyPr wrap="square"/>
                    <a:lstStyle/>
                    <a:p>
                      <a:pPr algn="ctr"/>
                      <a:r>
                        <a:rPr sz="950" b="1">
                          <a:solidFill>
                            <a:srgbClr val="1C9C82"/>
                          </a:solidFill>
                          <a:latin typeface="Calibri"/>
                        </a:rPr>
                        <a:t>FUNCIONO</a:t>
                      </a:r>
                    </a:p>
                  </a:txBody>
                  <a:tcPr marL="90000" marR="90000" marT="18000" marB="18000">
                    <a:solidFill>
                      <a:srgbClr val="F7F8FC"/>
                    </a:solidFill>
                  </a:tcPr>
                </a:tc>
              </a:tr>
              <a:tr h="370000">
                <a:tc>
                  <a:txBody>
                    <a:bodyPr wrap="square"/>
                    <a:lstStyle/>
                    <a:p>
                      <a:pPr algn="l"/>
                      <a:r>
                        <a:rPr sz="1000" b="0">
                          <a:solidFill>
                            <a:srgbClr val="5B5B5B"/>
                          </a:solidFill>
                          <a:latin typeface="Calibri"/>
                        </a:rPr>
                        <a:t>Ronda 9</a:t>
                      </a:r>
                    </a:p>
                  </a:txBody>
                  <a:tcPr marL="90000" marR="90000" marT="18000" marB="18000">
                    <a:solidFill>
                      <a:srgbClr val="FFFFFF"/>
                    </a:solidFill>
                  </a:tcPr>
                </a:tc>
                <a:tc>
                  <a:txBody>
                    <a:bodyPr wrap="square"/>
                    <a:lstStyle/>
                    <a:p>
                      <a:pPr algn="l"/>
                      <a:r>
                        <a:rPr sz="1050" b="0">
                          <a:solidFill>
                            <a:srgbClr val="222222"/>
                          </a:solidFill>
                          <a:latin typeface="Calibri"/>
                        </a:rPr>
                        <a:t>Intento con texto (LLM local)</a:t>
                      </a:r>
                    </a:p>
                  </a:txBody>
                  <a:tcPr marL="90000" marR="90000" marT="18000" marB="18000">
                    <a:solidFill>
                      <a:srgbClr val="FFFFFF"/>
                    </a:solidFill>
                  </a:tcPr>
                </a:tc>
                <a:tc>
                  <a:txBody>
                    <a:bodyPr wrap="square"/>
                    <a:lstStyle/>
                    <a:p>
                      <a:pPr algn="ctr"/>
                      <a:r>
                        <a:rPr sz="950" b="1">
                          <a:solidFill>
                            <a:srgbClr val="C0392B"/>
                          </a:solidFill>
                          <a:latin typeface="Calibri"/>
                        </a:rPr>
                        <a:t>NO FUNCIONO</a:t>
                      </a:r>
                    </a:p>
                  </a:txBody>
                  <a:tcPr marL="90000" marR="90000" marT="18000" marB="18000">
                    <a:solidFill>
                      <a:srgbClr val="FFFFFF"/>
                    </a:solidFill>
                  </a:tcPr>
                </a:tc>
              </a:tr>
              <a:tr h="370000">
                <a:tc>
                  <a:txBody>
                    <a:bodyPr wrap="square"/>
                    <a:lstStyle/>
                    <a:p>
                      <a:pPr algn="l"/>
                      <a:r>
                        <a:rPr sz="1000" b="0">
                          <a:solidFill>
                            <a:srgbClr val="5B5B5B"/>
                          </a:solidFill>
                          <a:latin typeface="Calibri"/>
                        </a:rPr>
                        <a:t>Calibracion final</a:t>
                      </a:r>
                    </a:p>
                  </a:txBody>
                  <a:tcPr marL="90000" marR="90000" marT="18000" marB="18000">
                    <a:solidFill>
                      <a:srgbClr val="F7F8FC"/>
                    </a:solidFill>
                  </a:tcPr>
                </a:tc>
                <a:tc>
                  <a:txBody>
                    <a:bodyPr wrap="square"/>
                    <a:lstStyle/>
                    <a:p>
                      <a:pPr algn="l"/>
                      <a:r>
                        <a:rPr sz="1050" b="0">
                          <a:solidFill>
                            <a:srgbClr val="222222"/>
                          </a:solidFill>
                          <a:latin typeface="Calibri"/>
                        </a:rPr>
                        <a:t>Barrido de escala sobre Ronda 8</a:t>
                      </a:r>
                    </a:p>
                  </a:txBody>
                  <a:tcPr marL="90000" marR="90000" marT="18000" marB="18000">
                    <a:solidFill>
                      <a:srgbClr val="F7F8FC"/>
                    </a:solidFill>
                  </a:tcPr>
                </a:tc>
                <a:tc>
                  <a:txBody>
                    <a:bodyPr wrap="square"/>
                    <a:lstStyle/>
                    <a:p>
                      <a:pPr algn="ctr"/>
                      <a:r>
                        <a:rPr sz="950" b="1">
                          <a:solidFill>
                            <a:srgbClr val="1C9C82"/>
                          </a:solidFill>
                          <a:latin typeface="Calibri"/>
                        </a:rPr>
                        <a:t>FUNCIONO</a:t>
                      </a:r>
                    </a:p>
                  </a:txBody>
                  <a:tcPr marL="90000" marR="90000" marT="18000" marB="18000">
                    <a:solidFill>
                      <a:srgbClr val="F7F8FC"/>
                    </a:solidFill>
                  </a:tcPr>
                </a:tc>
              </a:tr>
              <a:tr h="370000">
                <a:tc>
                  <a:txBody>
                    <a:bodyPr wrap="square"/>
                    <a:lstStyle/>
                    <a:p>
                      <a:pPr algn="l"/>
                      <a:r>
                        <a:rPr sz="1000" b="0">
                          <a:solidFill>
                            <a:srgbClr val="5B5B5B"/>
                          </a:solidFill>
                          <a:latin typeface="Calibri"/>
                        </a:rPr>
                        <a:t>Extra</a:t>
                      </a:r>
                    </a:p>
                  </a:txBody>
                  <a:tcPr marL="90000" marR="90000" marT="18000" marB="18000">
                    <a:solidFill>
                      <a:srgbClr val="FFFFFF"/>
                    </a:solidFill>
                  </a:tcPr>
                </a:tc>
                <a:tc>
                  <a:txBody>
                    <a:bodyPr wrap="square"/>
                    <a:lstStyle/>
                    <a:p>
                      <a:pPr algn="l"/>
                      <a:r>
                        <a:rPr sz="1050" b="0">
                          <a:solidFill>
                            <a:srgbClr val="222222"/>
                          </a:solidFill>
                          <a:latin typeface="Calibri"/>
                        </a:rPr>
                        <a:t>Criterio de Kelly (escala por segmento)</a:t>
                      </a:r>
                    </a:p>
                  </a:txBody>
                  <a:tcPr marL="90000" marR="90000" marT="18000" marB="18000">
                    <a:solidFill>
                      <a:srgbClr val="FFFFFF"/>
                    </a:solidFill>
                  </a:tcPr>
                </a:tc>
                <a:tc>
                  <a:txBody>
                    <a:bodyPr wrap="square"/>
                    <a:lstStyle/>
                    <a:p>
                      <a:pPr algn="ctr"/>
                      <a:r>
                        <a:rPr sz="950" b="1">
                          <a:solidFill>
                            <a:srgbClr val="4B5995"/>
                          </a:solidFill>
                          <a:latin typeface="Calibri"/>
                        </a:rPr>
                        <a:t>OK</a:t>
                      </a:r>
                    </a:p>
                  </a:txBody>
                  <a:tcPr marL="90000" marR="90000" marT="18000" marB="18000">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rot="10800000">
            <a:off x="9666111" y="-98779"/>
            <a:ext cx="2596444" cy="2413000"/>
          </a:xfrm>
          <a:prstGeom prst="rtTriangle">
            <a:avLst/>
          </a:prstGeom>
          <a:solidFill>
            <a:srgbClr val="4B59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300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ESTRATEGIA GANADORA</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Los 3 saltos que construyeron el modelo final</a:t>
            </a:r>
          </a:p>
        </p:txBody>
      </p:sp>
      <p:sp>
        <p:nvSpPr>
          <p:cNvPr id="6" name="TextBox 5"/>
          <p:cNvSpPr txBox="1"/>
          <p:nvPr/>
        </p:nvSpPr>
        <p:spPr>
          <a:xfrm>
            <a:off x="700000" y="1650000"/>
            <a:ext cx="10800000" cy="4500000"/>
          </a:xfrm>
          <a:prstGeom prst="rect">
            <a:avLst/>
          </a:prstGeom>
          <a:noFill/>
        </p:spPr>
        <p:txBody>
          <a:bodyPr wrap="square">
            <a:spAutoFit/>
          </a:bodyPr>
          <a:lstStyle/>
          <a:p>
            <a:pPr>
              <a:lnSpc>
                <a:spcPct val="115000"/>
              </a:lnSpc>
              <a:spcAft>
                <a:spcPts val="1400"/>
              </a:spcAft>
            </a:pPr>
            <a:r>
              <a:rPr sz="1700" b="1">
                <a:solidFill>
                  <a:srgbClr val="C68136"/>
                </a:solidFill>
                <a:latin typeface="Calibri"/>
              </a:rPr>
              <a:t>▸  </a:t>
            </a:r>
            <a:r>
              <a:rPr sz="1700">
                <a:solidFill>
                  <a:srgbClr val="222222"/>
                </a:solidFill>
                <a:latin typeface="Calibri"/>
              </a:rPr>
              <a:t>Embeddings de imagenes (CLIP): +92% de ROI vs el modelo tabular solo (el salto individual mas grande del proyecto).</a:t>
            </a:r>
          </a:p>
          <a:p>
            <a:pPr>
              <a:lnSpc>
                <a:spcPct val="115000"/>
              </a:lnSpc>
              <a:spcAft>
                <a:spcPts val="1400"/>
              </a:spcAft>
            </a:pPr>
            <a:r>
              <a:rPr sz="1700" b="1">
                <a:solidFill>
                  <a:srgbClr val="C68136"/>
                </a:solidFill>
                <a:latin typeface="Calibri"/>
              </a:rPr>
              <a:t>▸  </a:t>
            </a:r>
            <a:r>
              <a:rPr sz="1700">
                <a:solidFill>
                  <a:srgbClr val="222222"/>
                </a:solidFill>
                <a:latin typeface="Calibri"/>
              </a:rPr>
              <a:t>Regresion cuantil (percentil 35, no la media): ataca el error asimetrico del juego — sobreestimar destruye capital, subestimar solo cuesta la oportunidad.</a:t>
            </a:r>
          </a:p>
          <a:p>
            <a:pPr>
              <a:lnSpc>
                <a:spcPct val="115000"/>
              </a:lnSpc>
              <a:spcAft>
                <a:spcPts val="1400"/>
              </a:spcAft>
            </a:pPr>
            <a:r>
              <a:rPr sz="1700" b="1">
                <a:solidFill>
                  <a:srgbClr val="C68136"/>
                </a:solidFill>
                <a:latin typeface="Calibri"/>
              </a:rPr>
              <a:t>▸  </a:t>
            </a:r>
            <a:r>
              <a:rPr sz="1700">
                <a:solidFill>
                  <a:srgbClr val="222222"/>
                </a:solidFill>
                <a:latin typeface="Calibri"/>
              </a:rPr>
              <a:t>Fix quirurgico de propiedades distressed + calibracion final de escala (x0.83): confirmado en 3 corridas independientes de Practice, entre 2x y 4x mejor Mean ROI que sin escalar.</a:t>
            </a:r>
          </a:p>
        </p:txBody>
      </p:sp>
      <p:sp>
        <p:nvSpPr>
          <p:cNvPr id="7" name="Rounded Rectangle 6"/>
          <p:cNvSpPr/>
          <p:nvPr/>
        </p:nvSpPr>
        <p:spPr>
          <a:xfrm>
            <a:off x="700000" y="5600000"/>
            <a:ext cx="10800000" cy="650000"/>
          </a:xfrm>
          <a:prstGeom prst="roundRect">
            <a:avLst/>
          </a:prstGeom>
          <a:solidFill>
            <a:srgbClr val="FFFFFF"/>
          </a:solidFill>
          <a:ln w="19050">
            <a:solidFill>
              <a:srgbClr val="1C3087"/>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1">
                <a:solidFill>
                  <a:srgbClr val="1C3087"/>
                </a:solidFill>
              </a:rPr>
              <a:t>Modelo final: round8_distress_fix_scale083.csv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a:off x="186158" y="-198852"/>
            <a:ext cx="1901656" cy="2273969"/>
          </a:xfrm>
          <a:prstGeom prst="r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10145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LO QUE NO FUNCIONO</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Ronda 9: features de texto (LLM local)</a:t>
            </a:r>
          </a:p>
        </p:txBody>
      </p:sp>
      <p:pic>
        <p:nvPicPr>
          <p:cNvPr id="6" name="Picture 5" descr="chart_round9.png"/>
          <p:cNvPicPr>
            <a:picLocks noChangeAspect="1"/>
          </p:cNvPicPr>
          <p:nvPr/>
        </p:nvPicPr>
        <p:blipFill>
          <a:blip r:embed="rId3"/>
          <a:stretch>
            <a:fillRect/>
          </a:stretch>
        </p:blipFill>
        <p:spPr>
          <a:xfrm>
            <a:off x="1450000" y="1550000"/>
            <a:ext cx="9300000" cy="4443333"/>
          </a:xfrm>
          <a:prstGeom prst="rect">
            <a:avLst/>
          </a:prstGeom>
        </p:spPr>
      </p:pic>
      <p:sp>
        <p:nvSpPr>
          <p:cNvPr id="7" name="TextBox 6"/>
          <p:cNvSpPr txBox="1"/>
          <p:nvPr/>
        </p:nvSpPr>
        <p:spPr>
          <a:xfrm>
            <a:off x="700000" y="5900000"/>
            <a:ext cx="10800000" cy="900000"/>
          </a:xfrm>
          <a:prstGeom prst="rect">
            <a:avLst/>
          </a:prstGeom>
          <a:noFill/>
        </p:spPr>
        <p:txBody>
          <a:bodyPr wrap="square">
            <a:spAutoFit/>
          </a:bodyPr>
          <a:lstStyle/>
          <a:p>
            <a:pPr>
              <a:lnSpc>
                <a:spcPct val="120000"/>
              </a:lnSpc>
              <a:spcAft>
                <a:spcPts val="1200"/>
              </a:spcAft>
            </a:pPr>
            <a:r>
              <a:rPr sz="1400">
                <a:solidFill>
                  <a:srgbClr val="222222"/>
                </a:solidFill>
                <a:latin typeface="Calibri"/>
              </a:rPr>
              <a:t>Unico cambio respecto a Ronda 8: agregar 18 features semanticas extraidas de las descripciones con un LLM local (Ollama). Empeoro el modelo — y lo confirmamos con una comparacion controlada antes de descartarlo.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rot="10800000">
            <a:off x="9666111" y="-98779"/>
            <a:ext cx="2596444" cy="2413000"/>
          </a:xfrm>
          <a:prstGeom prst="rtTriangle">
            <a:avLst/>
          </a:prstGeom>
          <a:solidFill>
            <a:srgbClr val="1C9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300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LA MEJORA FINAL</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Calibracion de escala sobre Ronda 8</a:t>
            </a:r>
          </a:p>
        </p:txBody>
      </p:sp>
      <p:pic>
        <p:nvPicPr>
          <p:cNvPr id="6" name="Picture 5" descr="chart_scale_sweep.png"/>
          <p:cNvPicPr>
            <a:picLocks noChangeAspect="1"/>
          </p:cNvPicPr>
          <p:nvPr/>
        </p:nvPicPr>
        <p:blipFill>
          <a:blip r:embed="rId3"/>
          <a:stretch>
            <a:fillRect/>
          </a:stretch>
        </p:blipFill>
        <p:spPr>
          <a:xfrm>
            <a:off x="1350000" y="1500000"/>
            <a:ext cx="9600000" cy="4648421"/>
          </a:xfrm>
          <a:prstGeom prst="rect">
            <a:avLst/>
          </a:prstGeom>
        </p:spPr>
      </p:pic>
      <p:sp>
        <p:nvSpPr>
          <p:cNvPr id="7" name="TextBox 6"/>
          <p:cNvSpPr txBox="1"/>
          <p:nvPr/>
        </p:nvSpPr>
        <p:spPr>
          <a:xfrm>
            <a:off x="700000" y="6000000"/>
            <a:ext cx="10800000" cy="800000"/>
          </a:xfrm>
          <a:prstGeom prst="rect">
            <a:avLst/>
          </a:prstGeom>
          <a:noFill/>
        </p:spPr>
        <p:txBody>
          <a:bodyPr wrap="square">
            <a:spAutoFit/>
          </a:bodyPr>
          <a:lstStyle/>
          <a:p>
            <a:pPr>
              <a:lnSpc>
                <a:spcPct val="120000"/>
              </a:lnSpc>
              <a:spcAft>
                <a:spcPts val="1200"/>
              </a:spcAft>
            </a:pPr>
            <a:r>
              <a:rPr sz="1400">
                <a:solidFill>
                  <a:srgbClr val="222222"/>
                </a:solidFill>
                <a:latin typeface="Calibri"/>
              </a:rPr>
              <a:t>Validado con 3 corridas independientes en el dashboard real: escala 0.83 le gano a Ronda 8 sin escalar por 2x a 4x en Mean ROI, sin excepciones.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a:off x="186158" y="-198852"/>
            <a:ext cx="1901656" cy="2273969"/>
          </a:xfrm>
          <a:prstGeom prst="rtTriangle">
            <a:avLst/>
          </a:prstGeom>
          <a:solidFill>
            <a:srgbClr val="4B59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10145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EXPERIMENTO NUEVO</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Criterio de Kelly, adaptado a la subasta</a:t>
            </a:r>
          </a:p>
        </p:txBody>
      </p:sp>
      <p:sp>
        <p:nvSpPr>
          <p:cNvPr id="6" name="TextBox 5"/>
          <p:cNvSpPr txBox="1"/>
          <p:nvPr/>
        </p:nvSpPr>
        <p:spPr>
          <a:xfrm>
            <a:off x="700000" y="1550000"/>
            <a:ext cx="10800000" cy="1300000"/>
          </a:xfrm>
          <a:prstGeom prst="rect">
            <a:avLst/>
          </a:prstGeom>
          <a:noFill/>
        </p:spPr>
        <p:txBody>
          <a:bodyPr wrap="square">
            <a:spAutoFit/>
          </a:bodyPr>
          <a:lstStyle/>
          <a:p>
            <a:pPr>
              <a:lnSpc>
                <a:spcPct val="120000"/>
              </a:lnSpc>
              <a:spcAft>
                <a:spcPts val="1200"/>
              </a:spcAft>
            </a:pPr>
            <a:r>
              <a:rPr sz="1500">
                <a:solidFill>
                  <a:srgbClr val="222222"/>
                </a:solidFill>
                <a:latin typeface="Calibri"/>
              </a:rPr>
              <a:t>Kelly clasico asume perder = perder toda la apuesta. Acá no: si nos ganan la subasta, no perdemos nada. Lo adaptamos a p = Hit Rate, W = ganancia y L = perdida (como fraccion del costo), condicionado a ganar la subasta:  f* = p/L − q/W</a:t>
            </a:r>
          </a:p>
        </p:txBody>
      </p:sp>
      <p:graphicFrame>
        <p:nvGraphicFramePr>
          <p:cNvPr id="7" name="Table 6"/>
          <p:cNvGraphicFramePr>
            <a:graphicFrameLocks noGrp="1"/>
          </p:cNvGraphicFramePr>
          <p:nvPr/>
        </p:nvGraphicFramePr>
        <p:xfrm>
          <a:off x="1400000" y="3050000"/>
          <a:ext cx="9400000" cy="1600000"/>
        </p:xfrm>
        <a:graphic>
          <a:graphicData uri="http://schemas.openxmlformats.org/drawingml/2006/table">
            <a:tbl>
              <a:tblPr firstRow="1" bandRow="1">
                <a:tableStyleId>{5C22544A-7EE6-4342-B048-85BDC9FD1C3A}</a:tableStyleId>
              </a:tblPr>
              <a:tblGrid>
                <a:gridCol w="2350000"/>
                <a:gridCol w="2350000"/>
                <a:gridCol w="2350000"/>
                <a:gridCol w="2350000"/>
              </a:tblGrid>
              <a:tr h="400000">
                <a:tc>
                  <a:txBody>
                    <a:bodyPr wrap="square"/>
                    <a:lstStyle/>
                    <a:p>
                      <a:pPr algn="ctr"/>
                      <a:r>
                        <a:rPr sz="1200" b="1">
                          <a:solidFill>
                            <a:srgbClr val="FFFFFF"/>
                          </a:solidFill>
                          <a:latin typeface="Calibri"/>
                        </a:rPr>
                        <a:t>Segmento</a:t>
                      </a:r>
                    </a:p>
                  </a:txBody>
                  <a:tcPr marL="90000" marR="90000" marT="18000" marB="18000">
                    <a:solidFill>
                      <a:srgbClr val="1C3087"/>
                    </a:solidFill>
                  </a:tcPr>
                </a:tc>
                <a:tc>
                  <a:txBody>
                    <a:bodyPr wrap="square"/>
                    <a:lstStyle/>
                    <a:p>
                      <a:pPr algn="ctr"/>
                      <a:r>
                        <a:rPr sz="1200" b="1">
                          <a:solidFill>
                            <a:srgbClr val="FFFFFF"/>
                          </a:solidFill>
                          <a:latin typeface="Calibri"/>
                        </a:rPr>
                        <a:t>Hit Rate</a:t>
                      </a:r>
                    </a:p>
                  </a:txBody>
                  <a:tcPr marL="90000" marR="90000" marT="18000" marB="18000">
                    <a:solidFill>
                      <a:srgbClr val="1C3087"/>
                    </a:solidFill>
                  </a:tcPr>
                </a:tc>
                <a:tc>
                  <a:txBody>
                    <a:bodyPr wrap="square"/>
                    <a:lstStyle/>
                    <a:p>
                      <a:pPr algn="ctr"/>
                      <a:r>
                        <a:rPr sz="1200" b="1">
                          <a:solidFill>
                            <a:srgbClr val="FFFFFF"/>
                          </a:solidFill>
                          <a:latin typeface="Calibri"/>
                        </a:rPr>
                        <a:t>Kelly f*</a:t>
                      </a:r>
                    </a:p>
                  </a:txBody>
                  <a:tcPr marL="90000" marR="90000" marT="18000" marB="18000">
                    <a:solidFill>
                      <a:srgbClr val="1C3087"/>
                    </a:solidFill>
                  </a:tcPr>
                </a:tc>
                <a:tc>
                  <a:txBody>
                    <a:bodyPr wrap="square"/>
                    <a:lstStyle/>
                    <a:p>
                      <a:pPr algn="ctr"/>
                      <a:r>
                        <a:rPr sz="1200" b="1">
                          <a:solidFill>
                            <a:srgbClr val="FFFFFF"/>
                          </a:solidFill>
                          <a:latin typeface="Calibri"/>
                        </a:rPr>
                        <a:t>Escala sugerida</a:t>
                      </a:r>
                    </a:p>
                  </a:txBody>
                  <a:tcPr marL="90000" marR="90000" marT="18000" marB="18000">
                    <a:solidFill>
                      <a:srgbClr val="1C3087"/>
                    </a:solidFill>
                  </a:tcPr>
                </a:tc>
              </a:tr>
              <a:tr h="400000">
                <a:tc>
                  <a:txBody>
                    <a:bodyPr wrap="square"/>
                    <a:lstStyle/>
                    <a:p>
                      <a:pPr algn="ctr"/>
                      <a:r>
                        <a:rPr sz="1150" b="0">
                          <a:solidFill>
                            <a:srgbClr val="222222"/>
                          </a:solidFill>
                          <a:latin typeface="Calibri"/>
                        </a:rPr>
                        <a:t>SF</a:t>
                      </a:r>
                    </a:p>
                  </a:txBody>
                  <a:tcPr marL="90000" marR="90000" marT="18000" marB="18000">
                    <a:solidFill>
                      <a:srgbClr val="FFFFFF"/>
                    </a:solidFill>
                  </a:tcPr>
                </a:tc>
                <a:tc>
                  <a:txBody>
                    <a:bodyPr wrap="square"/>
                    <a:lstStyle/>
                    <a:p>
                      <a:pPr algn="ctr"/>
                      <a:r>
                        <a:rPr sz="1150" b="0">
                          <a:solidFill>
                            <a:srgbClr val="222222"/>
                          </a:solidFill>
                          <a:latin typeface="Calibri"/>
                        </a:rPr>
                        <a:t>75.0%</a:t>
                      </a:r>
                    </a:p>
                  </a:txBody>
                  <a:tcPr marL="90000" marR="90000" marT="18000" marB="18000">
                    <a:solidFill>
                      <a:srgbClr val="FFFFFF"/>
                    </a:solidFill>
                  </a:tcPr>
                </a:tc>
                <a:tc>
                  <a:txBody>
                    <a:bodyPr wrap="square"/>
                    <a:lstStyle/>
                    <a:p>
                      <a:pPr algn="ctr"/>
                      <a:r>
                        <a:rPr sz="1150" b="0">
                          <a:solidFill>
                            <a:srgbClr val="222222"/>
                          </a:solidFill>
                          <a:latin typeface="Calibri"/>
                        </a:rPr>
                        <a:t>3.08</a:t>
                      </a:r>
                    </a:p>
                  </a:txBody>
                  <a:tcPr marL="90000" marR="90000" marT="18000" marB="18000">
                    <a:solidFill>
                      <a:srgbClr val="FFFFFF"/>
                    </a:solidFill>
                  </a:tcPr>
                </a:tc>
                <a:tc>
                  <a:txBody>
                    <a:bodyPr wrap="square"/>
                    <a:lstStyle/>
                    <a:p>
                      <a:pPr algn="ctr"/>
                      <a:r>
                        <a:rPr sz="1150" b="0">
                          <a:solidFill>
                            <a:srgbClr val="222222"/>
                          </a:solidFill>
                          <a:latin typeface="Calibri"/>
                        </a:rPr>
                        <a:t>0.828</a:t>
                      </a:r>
                    </a:p>
                  </a:txBody>
                  <a:tcPr marL="90000" marR="90000" marT="18000" marB="18000">
                    <a:solidFill>
                      <a:srgbClr val="FFFFFF"/>
                    </a:solidFill>
                  </a:tcPr>
                </a:tc>
              </a:tr>
              <a:tr h="400000">
                <a:tc>
                  <a:txBody>
                    <a:bodyPr wrap="square"/>
                    <a:lstStyle/>
                    <a:p>
                      <a:pPr algn="ctr"/>
                      <a:r>
                        <a:rPr sz="1150" b="0">
                          <a:solidFill>
                            <a:srgbClr val="222222"/>
                          </a:solidFill>
                          <a:latin typeface="Calibri"/>
                        </a:rPr>
                        <a:t>CONDO</a:t>
                      </a:r>
                    </a:p>
                  </a:txBody>
                  <a:tcPr marL="90000" marR="90000" marT="18000" marB="18000">
                    <a:solidFill>
                      <a:srgbClr val="F7F8FC"/>
                    </a:solidFill>
                  </a:tcPr>
                </a:tc>
                <a:tc>
                  <a:txBody>
                    <a:bodyPr wrap="square"/>
                    <a:lstStyle/>
                    <a:p>
                      <a:pPr algn="ctr"/>
                      <a:r>
                        <a:rPr sz="1150" b="0">
                          <a:solidFill>
                            <a:srgbClr val="222222"/>
                          </a:solidFill>
                          <a:latin typeface="Calibri"/>
                        </a:rPr>
                        <a:t>70.5%</a:t>
                      </a:r>
                    </a:p>
                  </a:txBody>
                  <a:tcPr marL="90000" marR="90000" marT="18000" marB="18000">
                    <a:solidFill>
                      <a:srgbClr val="F7F8FC"/>
                    </a:solidFill>
                  </a:tcPr>
                </a:tc>
                <a:tc>
                  <a:txBody>
                    <a:bodyPr wrap="square"/>
                    <a:lstStyle/>
                    <a:p>
                      <a:pPr algn="ctr"/>
                      <a:r>
                        <a:rPr sz="1150" b="0">
                          <a:solidFill>
                            <a:srgbClr val="222222"/>
                          </a:solidFill>
                          <a:latin typeface="Calibri"/>
                        </a:rPr>
                        <a:t>3.28</a:t>
                      </a:r>
                    </a:p>
                  </a:txBody>
                  <a:tcPr marL="90000" marR="90000" marT="18000" marB="18000">
                    <a:solidFill>
                      <a:srgbClr val="F7F8FC"/>
                    </a:solidFill>
                  </a:tcPr>
                </a:tc>
                <a:tc>
                  <a:txBody>
                    <a:bodyPr wrap="square"/>
                    <a:lstStyle/>
                    <a:p>
                      <a:pPr algn="ctr"/>
                      <a:r>
                        <a:rPr sz="1150" b="0">
                          <a:solidFill>
                            <a:srgbClr val="222222"/>
                          </a:solidFill>
                          <a:latin typeface="Calibri"/>
                        </a:rPr>
                        <a:t>0.832</a:t>
                      </a:r>
                    </a:p>
                  </a:txBody>
                  <a:tcPr marL="90000" marR="90000" marT="18000" marB="18000">
                    <a:solidFill>
                      <a:srgbClr val="F7F8FC"/>
                    </a:solidFill>
                  </a:tcPr>
                </a:tc>
              </a:tr>
              <a:tr h="400000">
                <a:tc>
                  <a:txBody>
                    <a:bodyPr wrap="square"/>
                    <a:lstStyle/>
                    <a:p>
                      <a:pPr algn="ctr"/>
                      <a:r>
                        <a:rPr sz="1150" b="0">
                          <a:solidFill>
                            <a:srgbClr val="222222"/>
                          </a:solidFill>
                          <a:latin typeface="Calibri"/>
                        </a:rPr>
                        <a:t>REST</a:t>
                      </a:r>
                    </a:p>
                  </a:txBody>
                  <a:tcPr marL="90000" marR="90000" marT="18000" marB="18000">
                    <a:solidFill>
                      <a:srgbClr val="FFFFFF"/>
                    </a:solidFill>
                  </a:tcPr>
                </a:tc>
                <a:tc>
                  <a:txBody>
                    <a:bodyPr wrap="square"/>
                    <a:lstStyle/>
                    <a:p>
                      <a:pPr algn="ctr"/>
                      <a:r>
                        <a:rPr sz="1150" b="0">
                          <a:solidFill>
                            <a:srgbClr val="222222"/>
                          </a:solidFill>
                          <a:latin typeface="Calibri"/>
                        </a:rPr>
                        <a:t>72.7%</a:t>
                      </a:r>
                    </a:p>
                  </a:txBody>
                  <a:tcPr marL="90000" marR="90000" marT="18000" marB="18000">
                    <a:solidFill>
                      <a:srgbClr val="FFFFFF"/>
                    </a:solidFill>
                  </a:tcPr>
                </a:tc>
                <a:tc>
                  <a:txBody>
                    <a:bodyPr wrap="square"/>
                    <a:lstStyle/>
                    <a:p>
                      <a:pPr algn="ctr"/>
                      <a:r>
                        <a:rPr sz="1150" b="0">
                          <a:solidFill>
                            <a:srgbClr val="222222"/>
                          </a:solidFill>
                          <a:latin typeface="Calibri"/>
                        </a:rPr>
                        <a:t>3.17</a:t>
                      </a:r>
                    </a:p>
                  </a:txBody>
                  <a:tcPr marL="90000" marR="90000" marT="18000" marB="18000">
                    <a:solidFill>
                      <a:srgbClr val="FFFFFF"/>
                    </a:solidFill>
                  </a:tcPr>
                </a:tc>
                <a:tc>
                  <a:txBody>
                    <a:bodyPr wrap="square"/>
                    <a:lstStyle/>
                    <a:p>
                      <a:pPr algn="ctr"/>
                      <a:r>
                        <a:rPr sz="1150" b="0">
                          <a:solidFill>
                            <a:srgbClr val="222222"/>
                          </a:solidFill>
                          <a:latin typeface="Calibri"/>
                        </a:rPr>
                        <a:t>0.83</a:t>
                      </a:r>
                    </a:p>
                  </a:txBody>
                  <a:tcPr marL="90000" marR="90000" marT="18000" marB="18000">
                    <a:solidFill>
                      <a:srgbClr val="FFFFFF"/>
                    </a:solidFill>
                  </a:tcPr>
                </a:tc>
              </a:tr>
            </a:tbl>
          </a:graphicData>
        </a:graphic>
      </p:graphicFrame>
      <p:sp>
        <p:nvSpPr>
          <p:cNvPr id="8" name="Rounded Rectangle 7"/>
          <p:cNvSpPr/>
          <p:nvPr/>
        </p:nvSpPr>
        <p:spPr>
          <a:xfrm>
            <a:off x="700000" y="5000000"/>
            <a:ext cx="10800000" cy="650000"/>
          </a:xfrm>
          <a:prstGeom prst="roundRect">
            <a:avLst/>
          </a:prstGeom>
          <a:solidFill>
            <a:srgbClr val="FFFFFF"/>
          </a:solidFill>
          <a:ln w="19050">
            <a:solidFill>
              <a:srgbClr val="1C9C82"/>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1">
                <a:solidFill>
                  <a:srgbClr val="1C9C82"/>
                </a:solidFill>
              </a:rPr>
              <a:t>Mean ROI local: 0.83 plano = 9.95%  →  Kelly por segmento = 10.15%  (mejora chica pero real)</a:t>
            </a:r>
          </a:p>
        </p:txBody>
      </p:sp>
      <p:sp>
        <p:nvSpPr>
          <p:cNvPr id="9" name="TextBox 8"/>
          <p:cNvSpPr txBox="1"/>
          <p:nvPr/>
        </p:nvSpPr>
        <p:spPr>
          <a:xfrm>
            <a:off x="700000" y="5750000"/>
            <a:ext cx="10800000" cy="700000"/>
          </a:xfrm>
          <a:prstGeom prst="rect">
            <a:avLst/>
          </a:prstGeom>
          <a:noFill/>
        </p:spPr>
        <p:txBody>
          <a:bodyPr wrap="square">
            <a:spAutoFit/>
          </a:bodyPr>
          <a:lstStyle/>
          <a:p>
            <a:pPr>
              <a:lnSpc>
                <a:spcPct val="120000"/>
              </a:lnSpc>
              <a:spcAft>
                <a:spcPts val="1200"/>
              </a:spcAft>
            </a:pPr>
            <a:r>
              <a:rPr sz="1300">
                <a:solidFill>
                  <a:srgbClr val="5B5B5B"/>
                </a:solidFill>
                <a:latin typeface="Calibri"/>
              </a:rPr>
              <a:t>Los 3 segmentos tienen perfil de riesgo parecido, asi que Kelly confirma que la escala plana ya estaba cerca del optimo — sin gran diferenciacion.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ight Triangle 1"/>
          <p:cNvSpPr/>
          <p:nvPr/>
        </p:nvSpPr>
        <p:spPr>
          <a:xfrm rot="10800000">
            <a:off x="9666111" y="-98779"/>
            <a:ext cx="2596444" cy="2413000"/>
          </a:xfrm>
          <a:prstGeom prst="rtTriangle">
            <a:avLst/>
          </a:prstGeom>
          <a:solidFill>
            <a:srgbClr val="DB5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stral_logo.jpeg"/>
          <p:cNvPicPr>
            <a:picLocks noChangeAspect="1"/>
          </p:cNvPicPr>
          <p:nvPr/>
        </p:nvPicPr>
        <p:blipFill>
          <a:blip r:embed="rId2"/>
          <a:stretch>
            <a:fillRect/>
          </a:stretch>
        </p:blipFill>
        <p:spPr>
          <a:xfrm>
            <a:off x="300000" y="5550000"/>
            <a:ext cx="1746504" cy="1170432"/>
          </a:xfrm>
          <a:prstGeom prst="rect">
            <a:avLst/>
          </a:prstGeom>
        </p:spPr>
      </p:pic>
      <p:sp>
        <p:nvSpPr>
          <p:cNvPr id="4" name="TextBox 3"/>
          <p:cNvSpPr txBox="1"/>
          <p:nvPr/>
        </p:nvSpPr>
        <p:spPr>
          <a:xfrm>
            <a:off x="700000" y="200000"/>
            <a:ext cx="6000000" cy="280000"/>
          </a:xfrm>
          <a:prstGeom prst="rect">
            <a:avLst/>
          </a:prstGeom>
          <a:noFill/>
        </p:spPr>
        <p:txBody>
          <a:bodyPr wrap="none">
            <a:spAutoFit/>
          </a:bodyPr>
          <a:lstStyle/>
          <a:p>
            <a:r>
              <a:rPr sz="1300" b="1">
                <a:solidFill>
                  <a:srgbClr val="C68136"/>
                </a:solidFill>
                <a:latin typeface="Calibri"/>
              </a:rPr>
              <a:t>RECOMENDACION FINAL</a:t>
            </a:r>
          </a:p>
        </p:txBody>
      </p:sp>
      <p:sp>
        <p:nvSpPr>
          <p:cNvPr id="5" name="TextBox 4"/>
          <p:cNvSpPr txBox="1"/>
          <p:nvPr/>
        </p:nvSpPr>
        <p:spPr>
          <a:xfrm>
            <a:off x="700000" y="430000"/>
            <a:ext cx="10800000" cy="650000"/>
          </a:xfrm>
          <a:prstGeom prst="rect">
            <a:avLst/>
          </a:prstGeom>
          <a:noFill/>
        </p:spPr>
        <p:txBody>
          <a:bodyPr wrap="square">
            <a:spAutoFit/>
          </a:bodyPr>
          <a:lstStyle/>
          <a:p>
            <a:r>
              <a:rPr sz="3000" b="1">
                <a:solidFill>
                  <a:srgbClr val="1C3087"/>
                </a:solidFill>
                <a:latin typeface="Calibri"/>
              </a:rPr>
              <a:t>Modelo elegido para la proxima ronda</a:t>
            </a:r>
          </a:p>
        </p:txBody>
      </p:sp>
      <p:sp>
        <p:nvSpPr>
          <p:cNvPr id="6" name="Rounded Rectangle 5"/>
          <p:cNvSpPr/>
          <p:nvPr/>
        </p:nvSpPr>
        <p:spPr>
          <a:xfrm>
            <a:off x="700000" y="1650000"/>
            <a:ext cx="10800000" cy="650000"/>
          </a:xfrm>
          <a:prstGeom prst="roundRect">
            <a:avLst/>
          </a:prstGeom>
          <a:solidFill>
            <a:srgbClr val="FFFFFF"/>
          </a:solidFill>
          <a:ln w="19050">
            <a:solidFill>
              <a:srgbClr val="1C3087"/>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a:lstStyle/>
          <a:p>
            <a:pPr algn="ctr"/>
            <a:r>
              <a:rPr sz="1400" b="1">
                <a:solidFill>
                  <a:srgbClr val="1C3087"/>
                </a:solidFill>
              </a:rPr>
              <a:t>round8_distress_fix_scale083.csv</a:t>
            </a:r>
          </a:p>
        </p:txBody>
      </p:sp>
      <p:sp>
        <p:nvSpPr>
          <p:cNvPr id="7" name="TextBox 6"/>
          <p:cNvSpPr txBox="1"/>
          <p:nvPr/>
        </p:nvSpPr>
        <p:spPr>
          <a:xfrm>
            <a:off x="700000" y="2500000"/>
            <a:ext cx="10800000" cy="1400000"/>
          </a:xfrm>
          <a:prstGeom prst="rect">
            <a:avLst/>
          </a:prstGeom>
          <a:noFill/>
        </p:spPr>
        <p:txBody>
          <a:bodyPr wrap="square">
            <a:spAutoFit/>
          </a:bodyPr>
          <a:lstStyle/>
          <a:p>
            <a:pPr>
              <a:lnSpc>
                <a:spcPct val="120000"/>
              </a:lnSpc>
              <a:spcAft>
                <a:spcPts val="1200"/>
              </a:spcAft>
            </a:pPr>
            <a:r>
              <a:rPr sz="1600">
                <a:solidFill>
                  <a:srgbClr val="222222"/>
                </a:solidFill>
                <a:latin typeface="Calibri"/>
              </a:rPr>
              <a:t>Es el modelo de Ronda 8 (tabular + imagenes CLIP + fix quirurgico de propiedades distressed confirmadas) con todas las predicciones escaladas x0.83. Es la combinacion que mejor Mean ROI mostro de forma consistente en validaciones repetidas, tanto en simulacion local como en el dashboard real de Practice.</a:t>
            </a:r>
          </a:p>
        </p:txBody>
      </p:sp>
      <p:sp>
        <p:nvSpPr>
          <p:cNvPr id="8" name="TextBox 7"/>
          <p:cNvSpPr txBox="1"/>
          <p:nvPr/>
        </p:nvSpPr>
        <p:spPr>
          <a:xfrm>
            <a:off x="700000" y="4200000"/>
            <a:ext cx="10800000" cy="1800000"/>
          </a:xfrm>
          <a:prstGeom prst="rect">
            <a:avLst/>
          </a:prstGeom>
          <a:noFill/>
        </p:spPr>
        <p:txBody>
          <a:bodyPr wrap="square">
            <a:spAutoFit/>
          </a:bodyPr>
          <a:lstStyle/>
          <a:p>
            <a:pPr>
              <a:lnSpc>
                <a:spcPct val="115000"/>
              </a:lnSpc>
              <a:spcAft>
                <a:spcPts val="1400"/>
              </a:spcAft>
            </a:pPr>
            <a:r>
              <a:rPr sz="1500" b="1">
                <a:solidFill>
                  <a:srgbClr val="C68136"/>
                </a:solidFill>
                <a:latin typeface="Calibri"/>
              </a:rPr>
              <a:t>▸  </a:t>
            </a:r>
            <a:r>
              <a:rPr sz="1500">
                <a:solidFill>
                  <a:srgbClr val="222222"/>
                </a:solidFill>
                <a:latin typeface="Calibri"/>
              </a:rPr>
              <a:t>Rondas 1 a 8: evolucion incremental, validada en Practice en cada paso.</a:t>
            </a:r>
          </a:p>
          <a:p>
            <a:pPr>
              <a:lnSpc>
                <a:spcPct val="115000"/>
              </a:lnSpc>
              <a:spcAft>
                <a:spcPts val="1400"/>
              </a:spcAft>
            </a:pPr>
            <a:r>
              <a:rPr sz="1500" b="1">
                <a:solidFill>
                  <a:srgbClr val="C68136"/>
                </a:solidFill>
                <a:latin typeface="Calibri"/>
              </a:rPr>
              <a:t>▸  </a:t>
            </a:r>
            <a:r>
              <a:rPr sz="1500">
                <a:solidFill>
                  <a:srgbClr val="222222"/>
                </a:solidFill>
                <a:latin typeface="Calibri"/>
              </a:rPr>
              <a:t>Ronda 9 (texto/LLM): pausada, no aporta con la cobertura/calidad actual.</a:t>
            </a:r>
          </a:p>
          <a:p>
            <a:pPr>
              <a:lnSpc>
                <a:spcPct val="115000"/>
              </a:lnSpc>
              <a:spcAft>
                <a:spcPts val="1400"/>
              </a:spcAft>
            </a:pPr>
            <a:r>
              <a:rPr sz="1500" b="1">
                <a:solidFill>
                  <a:srgbClr val="C68136"/>
                </a:solidFill>
                <a:latin typeface="Calibri"/>
              </a:rPr>
              <a:t>▸  </a:t>
            </a:r>
            <a:r>
              <a:rPr sz="1500">
                <a:solidFill>
                  <a:srgbClr val="222222"/>
                </a:solidFill>
                <a:latin typeface="Calibri"/>
              </a:rPr>
              <a:t>Calibracion de escala: la mejora final, grande y reproducible.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ustral_closing_bg.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00000" y="3000000"/>
            <a:ext cx="6000000" cy="900000"/>
          </a:xfrm>
          <a:prstGeom prst="rect">
            <a:avLst/>
          </a:prstGeom>
          <a:noFill/>
        </p:spPr>
        <p:txBody>
          <a:bodyPr wrap="none">
            <a:spAutoFit/>
          </a:bodyPr>
          <a:lstStyle/>
          <a:p>
            <a:r>
              <a:rPr sz="3600" b="1">
                <a:solidFill>
                  <a:srgbClr val="1C3087"/>
                </a:solidFill>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